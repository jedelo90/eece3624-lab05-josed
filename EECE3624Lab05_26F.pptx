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7772400" cy="10058400"/>
  <p:notesSz cx="18084800" cy="12649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676170-B382-4AAB-8D94-325377701295}" v="10" dt="2026-09-22T20:06:35.24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notesMaster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255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7" d="100"/>
          <a:sy n="57" d="100"/>
        </p:scale>
        <p:origin x="1756" y="4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De Los Santos" userId="5b4238d056d765fb" providerId="LiveId" clId="{A00C9B26-0AFF-4121-92BA-EA5BC3811AE2}"/>
    <pc:docChg chg="modNotesMaster">
      <pc:chgData name="Jose De Los Santos" userId="5b4238d056d765fb" providerId="LiveId" clId="{A00C9B26-0AFF-4121-92BA-EA5BC3811AE2}" dt="2026-09-22T20:06:53.076" v="10" actId="1076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7800" y="-31595"/>
            <a:ext cx="9829800" cy="1272008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12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D3AB9-33AA-4194-AFD9-C59A1F2ABCB7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33E55B-DF47-4A89-B266-839A70DBDE1F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08BD9-1C45-4980-8B4F-288E8EA227AD}" type="datetime1">
              <a:rPr lang="en-US" smtClean="0"/>
              <a:t>9/22/2026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91055-7D63-4792-BE81-CC486E423E09}" type="datetime1">
              <a:rPr lang="en-US" smtClean="0"/>
              <a:t>9/22/2026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5AEF5-C87A-4A65-9FDD-72610D3E93BD}" type="datetime1">
              <a:rPr lang="en-US" smtClean="0"/>
              <a:t>9/22/2026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10944" y="897705"/>
            <a:ext cx="4344035" cy="390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1700" y="2765494"/>
            <a:ext cx="5969000" cy="2319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54BE4-93B4-4F84-B18F-7AD5FA15F76F}" type="datetime1">
              <a:rPr lang="en-US" smtClean="0"/>
              <a:t>9/22/2026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509264" y="9407060"/>
            <a:ext cx="752475" cy="180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alatino Linotype"/>
                <a:cs typeface="Palatino Linotype"/>
              </a:defRPr>
            </a:lvl1pPr>
          </a:lstStyle>
          <a:p>
            <a:pPr marL="12700">
              <a:lnSpc>
                <a:spcPts val="1215"/>
              </a:lnSpc>
            </a:pPr>
            <a:r>
              <a:rPr dirty="0"/>
              <a:t>Page</a:t>
            </a:r>
            <a:r>
              <a:rPr spc="-5" dirty="0"/>
              <a:t> </a:t>
            </a:r>
            <a:fld id="{81D60167-4931-47E6-BA6A-407CBD079E47}" type="slidenum">
              <a:rPr b="1" dirty="0">
                <a:latin typeface="Book Antiqua"/>
                <a:cs typeface="Book Antiqua"/>
              </a:rPr>
              <a:t>‹#›</a:t>
            </a:fld>
            <a:r>
              <a:rPr b="1" spc="-10" dirty="0">
                <a:latin typeface="Book Antiqua"/>
                <a:cs typeface="Book Antiqua"/>
              </a:rPr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b="1" spc="-50" dirty="0">
                <a:latin typeface="Book Antiqua"/>
                <a:cs typeface="Book Antiqua"/>
              </a:rPr>
              <a:t>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589153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28925" algn="l"/>
              </a:tabLst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r>
              <a:rPr sz="1100" b="1" dirty="0">
                <a:latin typeface="Book Antiqua"/>
                <a:cs typeface="Book Antiqua"/>
              </a:rPr>
              <a:t>	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10944" y="897705"/>
            <a:ext cx="4344035" cy="390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Lab</a:t>
            </a:r>
            <a:r>
              <a:rPr spc="-55" dirty="0"/>
              <a:t> </a:t>
            </a:r>
            <a:r>
              <a:rPr dirty="0"/>
              <a:t>Assignment</a:t>
            </a:r>
            <a:r>
              <a:rPr spc="-35" dirty="0"/>
              <a:t> </a:t>
            </a:r>
            <a:r>
              <a:rPr spc="-25" dirty="0"/>
              <a:t>5—</a:t>
            </a:r>
            <a:r>
              <a:rPr dirty="0"/>
              <a:t>Pardon</a:t>
            </a:r>
            <a:r>
              <a:rPr spc="-50" dirty="0"/>
              <a:t> </a:t>
            </a:r>
            <a:r>
              <a:rPr spc="-25" dirty="0"/>
              <a:t>the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01700" y="1159784"/>
            <a:ext cx="4419600" cy="1518920"/>
          </a:xfrm>
          <a:prstGeom prst="rect">
            <a:avLst/>
          </a:prstGeom>
        </p:spPr>
        <p:txBody>
          <a:bodyPr vert="horz" wrap="square" lIns="0" tIns="193040" rIns="0" bIns="0" rtlCol="0">
            <a:spAutoFit/>
          </a:bodyPr>
          <a:lstStyle/>
          <a:p>
            <a:pPr marL="1545590" algn="ctr">
              <a:lnSpc>
                <a:spcPct val="100000"/>
              </a:lnSpc>
              <a:spcBef>
                <a:spcPts val="1520"/>
              </a:spcBef>
            </a:pPr>
            <a:r>
              <a:rPr sz="2400" b="1" spc="-10" dirty="0">
                <a:latin typeface="Book Antiqua"/>
                <a:cs typeface="Book Antiqua"/>
              </a:rPr>
              <a:t>…Interruption…</a:t>
            </a:r>
            <a:endParaRPr sz="2400">
              <a:latin typeface="Book Antiqua"/>
              <a:cs typeface="Book Antiqua"/>
            </a:endParaRPr>
          </a:p>
          <a:p>
            <a:pPr marL="1544955" algn="ctr">
              <a:lnSpc>
                <a:spcPct val="100000"/>
              </a:lnSpc>
              <a:spcBef>
                <a:spcPts val="1195"/>
              </a:spcBef>
            </a:pPr>
            <a:r>
              <a:rPr sz="2000" i="1" dirty="0">
                <a:latin typeface="Book Antiqua"/>
                <a:cs typeface="Book Antiqua"/>
              </a:rPr>
              <a:t>Using</a:t>
            </a:r>
            <a:r>
              <a:rPr sz="2000" i="1" spc="-25" dirty="0">
                <a:latin typeface="Book Antiqua"/>
                <a:cs typeface="Book Antiqua"/>
              </a:rPr>
              <a:t> </a:t>
            </a:r>
            <a:r>
              <a:rPr sz="2000" i="1" dirty="0">
                <a:latin typeface="Book Antiqua"/>
                <a:cs typeface="Book Antiqua"/>
              </a:rPr>
              <a:t>Hardware</a:t>
            </a:r>
            <a:r>
              <a:rPr sz="2000" i="1" spc="-20" dirty="0">
                <a:latin typeface="Book Antiqua"/>
                <a:cs typeface="Book Antiqua"/>
              </a:rPr>
              <a:t> </a:t>
            </a:r>
            <a:r>
              <a:rPr sz="2000" i="1" spc="-10" dirty="0">
                <a:latin typeface="Book Antiqua"/>
                <a:cs typeface="Book Antiqua"/>
              </a:rPr>
              <a:t>Interrupts</a:t>
            </a:r>
            <a:endParaRPr sz="20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00"/>
              </a:spcBef>
            </a:pPr>
            <a:r>
              <a:rPr sz="1800" b="1" spc="-10" dirty="0">
                <a:solidFill>
                  <a:srgbClr val="0070BF"/>
                </a:solidFill>
                <a:latin typeface="Book Antiqua"/>
                <a:cs typeface="Book Antiqua"/>
              </a:rPr>
              <a:t>Overview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2" y="2724911"/>
            <a:ext cx="5980430" cy="6350"/>
          </a:xfrm>
          <a:custGeom>
            <a:avLst/>
            <a:gdLst/>
            <a:ahLst/>
            <a:cxnLst/>
            <a:rect l="l" t="t" r="r" b="b"/>
            <a:pathLst>
              <a:path w="5980430" h="6350">
                <a:moveTo>
                  <a:pt x="5980175" y="6096"/>
                </a:moveTo>
                <a:lnTo>
                  <a:pt x="0" y="6096"/>
                </a:lnTo>
                <a:lnTo>
                  <a:pt x="0" y="0"/>
                </a:lnTo>
                <a:lnTo>
                  <a:pt x="5980175" y="0"/>
                </a:lnTo>
                <a:lnTo>
                  <a:pt x="5980175" y="609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80010">
              <a:lnSpc>
                <a:spcPct val="121300"/>
              </a:lnSpc>
              <a:spcBef>
                <a:spcPts val="90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this</a:t>
            </a:r>
            <a:r>
              <a:rPr spc="-35" dirty="0"/>
              <a:t> </a:t>
            </a:r>
            <a:r>
              <a:rPr dirty="0"/>
              <a:t>lab</a:t>
            </a:r>
            <a:r>
              <a:rPr spc="-25" dirty="0"/>
              <a:t> </a:t>
            </a:r>
            <a:r>
              <a:rPr dirty="0"/>
              <a:t>you’ll</a:t>
            </a:r>
            <a:r>
              <a:rPr spc="-30" dirty="0"/>
              <a:t> </a:t>
            </a:r>
            <a:r>
              <a:rPr dirty="0"/>
              <a:t>write</a:t>
            </a:r>
            <a:r>
              <a:rPr spc="-10" dirty="0"/>
              <a:t> </a:t>
            </a:r>
            <a:r>
              <a:rPr dirty="0"/>
              <a:t>assembly</a:t>
            </a:r>
            <a:r>
              <a:rPr spc="-15" dirty="0"/>
              <a:t> </a:t>
            </a:r>
            <a:r>
              <a:rPr dirty="0"/>
              <a:t>code</a:t>
            </a:r>
            <a:r>
              <a:rPr spc="-25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dirty="0"/>
              <a:t>uses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ReadyAVR’s</a:t>
            </a:r>
            <a:r>
              <a:rPr spc="20" dirty="0"/>
              <a:t> </a:t>
            </a:r>
            <a:r>
              <a:rPr b="1" dirty="0">
                <a:latin typeface="Book Antiqua"/>
                <a:cs typeface="Book Antiqua"/>
              </a:rPr>
              <a:t>joystick</a:t>
            </a:r>
            <a:r>
              <a:rPr b="1" spc="-25" dirty="0">
                <a:latin typeface="Book Antiqua"/>
                <a:cs typeface="Book Antiqua"/>
              </a:rPr>
              <a:t> </a:t>
            </a:r>
            <a:r>
              <a:rPr dirty="0"/>
              <a:t>to</a:t>
            </a:r>
            <a:r>
              <a:rPr spc="-15" dirty="0"/>
              <a:t> </a:t>
            </a:r>
            <a:r>
              <a:rPr dirty="0"/>
              <a:t>control</a:t>
            </a:r>
            <a:r>
              <a:rPr spc="-25" dirty="0"/>
              <a:t> the </a:t>
            </a:r>
            <a:r>
              <a:rPr dirty="0"/>
              <a:t>blink</a:t>
            </a:r>
            <a:r>
              <a:rPr spc="-20" dirty="0"/>
              <a:t> </a:t>
            </a:r>
            <a:r>
              <a:rPr dirty="0"/>
              <a:t>rate</a:t>
            </a:r>
            <a:r>
              <a:rPr spc="5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dirty="0"/>
              <a:t>an</a:t>
            </a:r>
            <a:r>
              <a:rPr spc="-25" dirty="0"/>
              <a:t> </a:t>
            </a:r>
            <a:r>
              <a:rPr spc="-10" dirty="0"/>
              <a:t>on-</a:t>
            </a:r>
            <a:r>
              <a:rPr dirty="0"/>
              <a:t>board</a:t>
            </a:r>
            <a:r>
              <a:rPr spc="5" dirty="0"/>
              <a:t> </a:t>
            </a:r>
            <a:r>
              <a:rPr dirty="0"/>
              <a:t>LED.</a:t>
            </a:r>
            <a:r>
              <a:rPr spc="-10" dirty="0"/>
              <a:t> Specifically,</a:t>
            </a:r>
            <a:r>
              <a:rPr spc="-15" dirty="0"/>
              <a:t> </a:t>
            </a:r>
            <a:r>
              <a:rPr dirty="0"/>
              <a:t>you’ll</a:t>
            </a:r>
            <a:r>
              <a:rPr spc="-10" dirty="0"/>
              <a:t> </a:t>
            </a:r>
            <a:r>
              <a:rPr dirty="0"/>
              <a:t>enable</a:t>
            </a:r>
            <a:r>
              <a:rPr spc="-1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joystick</a:t>
            </a:r>
            <a:r>
              <a:rPr spc="-10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10" dirty="0"/>
              <a:t>generate </a:t>
            </a:r>
            <a:r>
              <a:rPr i="1" dirty="0">
                <a:latin typeface="Book Antiqua"/>
                <a:cs typeface="Book Antiqua"/>
              </a:rPr>
              <a:t>hardware</a:t>
            </a:r>
            <a:r>
              <a:rPr i="1" spc="-35" dirty="0">
                <a:latin typeface="Book Antiqua"/>
                <a:cs typeface="Book Antiqua"/>
              </a:rPr>
              <a:t> </a:t>
            </a:r>
            <a:r>
              <a:rPr i="1" dirty="0">
                <a:latin typeface="Book Antiqua"/>
                <a:cs typeface="Book Antiqua"/>
              </a:rPr>
              <a:t>interrupts</a:t>
            </a:r>
            <a:r>
              <a:rPr i="1" spc="-15" dirty="0">
                <a:latin typeface="Book Antiqua"/>
                <a:cs typeface="Book Antiqua"/>
              </a:rPr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trigger</a:t>
            </a:r>
            <a:r>
              <a:rPr spc="-1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ATmega128A</a:t>
            </a:r>
            <a:r>
              <a:rPr spc="-30" dirty="0"/>
              <a:t> </a:t>
            </a:r>
            <a:r>
              <a:rPr dirty="0"/>
              <a:t>processor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run</a:t>
            </a:r>
            <a:r>
              <a:rPr spc="-3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dirty="0"/>
              <a:t>interrupt</a:t>
            </a:r>
            <a:r>
              <a:rPr spc="-30" dirty="0"/>
              <a:t> </a:t>
            </a:r>
            <a:r>
              <a:rPr spc="-10" dirty="0"/>
              <a:t>service </a:t>
            </a:r>
            <a:r>
              <a:rPr dirty="0"/>
              <a:t>routine</a:t>
            </a:r>
            <a:r>
              <a:rPr spc="-25" dirty="0"/>
              <a:t> </a:t>
            </a:r>
            <a:r>
              <a:rPr dirty="0"/>
              <a:t>(ISR)</a:t>
            </a:r>
            <a:r>
              <a:rPr spc="-25" dirty="0"/>
              <a:t> </a:t>
            </a:r>
            <a:r>
              <a:rPr dirty="0"/>
              <a:t>which</a:t>
            </a:r>
            <a:r>
              <a:rPr spc="-10" dirty="0"/>
              <a:t> </a:t>
            </a:r>
            <a:r>
              <a:rPr dirty="0"/>
              <a:t>updates</a:t>
            </a:r>
            <a:r>
              <a:rPr spc="-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register</a:t>
            </a:r>
            <a:r>
              <a:rPr spc="-10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by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main</a:t>
            </a:r>
            <a:r>
              <a:rPr spc="-30" dirty="0"/>
              <a:t> </a:t>
            </a:r>
            <a:r>
              <a:rPr dirty="0"/>
              <a:t>program</a:t>
            </a:r>
            <a:r>
              <a:rPr spc="-3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control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spc="-10" dirty="0"/>
              <a:t>LED’s </a:t>
            </a:r>
            <a:r>
              <a:rPr dirty="0"/>
              <a:t>blink</a:t>
            </a:r>
            <a:r>
              <a:rPr spc="-35" dirty="0"/>
              <a:t> </a:t>
            </a:r>
            <a:r>
              <a:rPr dirty="0"/>
              <a:t>rate.</a:t>
            </a:r>
            <a:r>
              <a:rPr spc="-20" dirty="0"/>
              <a:t> </a:t>
            </a:r>
            <a:r>
              <a:rPr dirty="0"/>
              <a:t>You</a:t>
            </a:r>
            <a:r>
              <a:rPr spc="-30" dirty="0"/>
              <a:t> </a:t>
            </a:r>
            <a:r>
              <a:rPr dirty="0"/>
              <a:t>will</a:t>
            </a:r>
            <a:r>
              <a:rPr spc="-30" dirty="0"/>
              <a:t> </a:t>
            </a:r>
            <a:r>
              <a:rPr dirty="0"/>
              <a:t>also</a:t>
            </a:r>
            <a:r>
              <a:rPr spc="-35" dirty="0"/>
              <a:t> </a:t>
            </a:r>
            <a:r>
              <a:rPr dirty="0"/>
              <a:t>have</a:t>
            </a:r>
            <a:r>
              <a:rPr spc="-1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understand</a:t>
            </a:r>
            <a:r>
              <a:rPr spc="-30" dirty="0"/>
              <a:t> </a:t>
            </a:r>
            <a:r>
              <a:rPr dirty="0"/>
              <a:t>working</a:t>
            </a:r>
            <a:r>
              <a:rPr spc="-30" dirty="0"/>
              <a:t> </a:t>
            </a:r>
            <a:r>
              <a:rPr dirty="0"/>
              <a:t>with</a:t>
            </a:r>
            <a:r>
              <a:rPr spc="-25" dirty="0"/>
              <a:t> </a:t>
            </a:r>
            <a:r>
              <a:rPr dirty="0"/>
              <a:t>memory</a:t>
            </a:r>
            <a:r>
              <a:rPr spc="-30" dirty="0"/>
              <a:t> </a:t>
            </a:r>
            <a:r>
              <a:rPr dirty="0"/>
              <a:t>mapped</a:t>
            </a:r>
            <a:r>
              <a:rPr spc="-15" dirty="0"/>
              <a:t> </a:t>
            </a:r>
            <a:r>
              <a:rPr spc="-25" dirty="0"/>
              <a:t>IO </a:t>
            </a:r>
            <a:r>
              <a:rPr dirty="0"/>
              <a:t>(PORTA,</a:t>
            </a:r>
            <a:r>
              <a:rPr spc="-25" dirty="0"/>
              <a:t> </a:t>
            </a:r>
            <a:r>
              <a:rPr dirty="0"/>
              <a:t>PORTB,</a:t>
            </a:r>
            <a:r>
              <a:rPr spc="-25" dirty="0"/>
              <a:t> </a:t>
            </a:r>
            <a:r>
              <a:rPr dirty="0"/>
              <a:t>PORTD)</a:t>
            </a:r>
            <a:r>
              <a:rPr spc="-2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configure</a:t>
            </a:r>
            <a:r>
              <a:rPr spc="-25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control</a:t>
            </a:r>
            <a:r>
              <a:rPr spc="-3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joystick</a:t>
            </a:r>
            <a:r>
              <a:rPr spc="-2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LED</a:t>
            </a:r>
            <a:r>
              <a:rPr spc="-30" dirty="0"/>
              <a:t> </a:t>
            </a:r>
            <a:r>
              <a:rPr dirty="0"/>
              <a:t>pins.</a:t>
            </a:r>
            <a:r>
              <a:rPr spc="254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25" dirty="0"/>
              <a:t>ISR </a:t>
            </a:r>
            <a:r>
              <a:rPr dirty="0"/>
              <a:t>routines</a:t>
            </a:r>
            <a:r>
              <a:rPr spc="-30" dirty="0"/>
              <a:t> </a:t>
            </a:r>
            <a:r>
              <a:rPr dirty="0"/>
              <a:t>will</a:t>
            </a:r>
            <a:r>
              <a:rPr spc="-25" dirty="0"/>
              <a:t> </a:t>
            </a:r>
            <a:r>
              <a:rPr dirty="0"/>
              <a:t>cause</a:t>
            </a:r>
            <a:r>
              <a:rPr spc="-10" dirty="0"/>
              <a:t> </a:t>
            </a:r>
            <a:r>
              <a:rPr dirty="0"/>
              <a:t>four</a:t>
            </a:r>
            <a:r>
              <a:rPr spc="-10" dirty="0"/>
              <a:t> </a:t>
            </a:r>
            <a:r>
              <a:rPr dirty="0"/>
              <a:t>other</a:t>
            </a:r>
            <a:r>
              <a:rPr spc="-15" dirty="0"/>
              <a:t> </a:t>
            </a:r>
            <a:r>
              <a:rPr spc="-10" dirty="0"/>
              <a:t>on-</a:t>
            </a:r>
            <a:r>
              <a:rPr dirty="0"/>
              <a:t>board</a:t>
            </a:r>
            <a:r>
              <a:rPr spc="-25" dirty="0"/>
              <a:t> </a:t>
            </a:r>
            <a:r>
              <a:rPr dirty="0"/>
              <a:t>LEDs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show</a:t>
            </a:r>
            <a:r>
              <a:rPr spc="-3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current</a:t>
            </a:r>
            <a:r>
              <a:rPr spc="-25" dirty="0"/>
              <a:t> </a:t>
            </a:r>
            <a:r>
              <a:rPr dirty="0"/>
              <a:t>blink</a:t>
            </a:r>
            <a:r>
              <a:rPr spc="-20" dirty="0"/>
              <a:t> </a:t>
            </a:r>
            <a:r>
              <a:rPr dirty="0"/>
              <a:t>rate</a:t>
            </a:r>
            <a:r>
              <a:rPr spc="-15" dirty="0"/>
              <a:t> </a:t>
            </a:r>
            <a:r>
              <a:rPr dirty="0"/>
              <a:t>(~1</a:t>
            </a:r>
            <a:r>
              <a:rPr spc="-25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spc="-25" dirty="0"/>
              <a:t>15 </a:t>
            </a:r>
            <a:r>
              <a:rPr dirty="0"/>
              <a:t>Hz)</a:t>
            </a:r>
            <a:r>
              <a:rPr spc="-25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4-</a:t>
            </a:r>
            <a:r>
              <a:rPr dirty="0"/>
              <a:t>bit</a:t>
            </a:r>
            <a:r>
              <a:rPr spc="-20" dirty="0"/>
              <a:t> </a:t>
            </a:r>
            <a:r>
              <a:rPr dirty="0"/>
              <a:t>binary</a:t>
            </a:r>
            <a:r>
              <a:rPr spc="-5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update</a:t>
            </a:r>
            <a:r>
              <a:rPr spc="-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blink</a:t>
            </a:r>
            <a:r>
              <a:rPr spc="-20" dirty="0"/>
              <a:t> </a:t>
            </a:r>
            <a:r>
              <a:rPr dirty="0"/>
              <a:t>speed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onboard</a:t>
            </a:r>
            <a:r>
              <a:rPr spc="-5" dirty="0"/>
              <a:t> </a:t>
            </a:r>
            <a:r>
              <a:rPr spc="-20" dirty="0"/>
              <a:t>LED.</a:t>
            </a: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dirty="0"/>
              <a:t>See</a:t>
            </a:r>
            <a:r>
              <a:rPr spc="-5" dirty="0"/>
              <a:t> </a:t>
            </a:r>
            <a:r>
              <a:rPr dirty="0"/>
              <a:t>files</a:t>
            </a:r>
            <a:r>
              <a:rPr spc="-5" dirty="0"/>
              <a:t> </a:t>
            </a:r>
            <a:r>
              <a:rPr b="1" spc="-10" dirty="0">
                <a:latin typeface="Book Antiqua"/>
                <a:cs typeface="Book Antiqua"/>
              </a:rPr>
              <a:t>EECE3624_Lab05_Demo.mp4</a:t>
            </a:r>
            <a:r>
              <a:rPr b="1" spc="30" dirty="0">
                <a:latin typeface="Book Antiqua"/>
                <a:cs typeface="Book Antiqua"/>
              </a:rPr>
              <a:t> </a:t>
            </a:r>
            <a:r>
              <a:rPr dirty="0"/>
              <a:t>and </a:t>
            </a:r>
            <a:r>
              <a:rPr b="1" spc="-10" dirty="0">
                <a:latin typeface="Book Antiqua"/>
                <a:cs typeface="Book Antiqua"/>
              </a:rPr>
              <a:t>EECE3624LectureWeek05-</a:t>
            </a:r>
            <a:r>
              <a:rPr b="1" dirty="0">
                <a:latin typeface="Book Antiqua"/>
                <a:cs typeface="Book Antiqua"/>
              </a:rPr>
              <a:t>Interrupts.pdf</a:t>
            </a:r>
            <a:r>
              <a:rPr b="1" spc="35" dirty="0">
                <a:latin typeface="Book Antiqua"/>
                <a:cs typeface="Book Antiqua"/>
              </a:rPr>
              <a:t> </a:t>
            </a:r>
            <a:r>
              <a:rPr spc="-25" dirty="0"/>
              <a:t>on</a:t>
            </a: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b="1" dirty="0">
                <a:latin typeface="Book Antiqua"/>
                <a:cs typeface="Book Antiqua"/>
              </a:rPr>
              <a:t>Canvas</a:t>
            </a:r>
            <a:r>
              <a:rPr dirty="0">
                <a:latin typeface="Cambria"/>
                <a:cs typeface="Cambria"/>
              </a:rPr>
              <a:t>→</a:t>
            </a:r>
            <a:r>
              <a:rPr b="1" dirty="0">
                <a:latin typeface="Book Antiqua"/>
                <a:cs typeface="Book Antiqua"/>
              </a:rPr>
              <a:t>Labs</a:t>
            </a:r>
            <a:r>
              <a:rPr b="1" spc="-40" dirty="0">
                <a:latin typeface="Book Antiqua"/>
                <a:cs typeface="Book Antiqua"/>
              </a:rPr>
              <a:t> </a:t>
            </a:r>
            <a:r>
              <a:rPr dirty="0"/>
              <a:t>for</a:t>
            </a:r>
            <a:r>
              <a:rPr spc="-20" dirty="0"/>
              <a:t> </a:t>
            </a:r>
            <a:r>
              <a:rPr dirty="0"/>
              <a:t>more</a:t>
            </a:r>
            <a:r>
              <a:rPr spc="-30" dirty="0"/>
              <a:t> </a:t>
            </a:r>
            <a:r>
              <a:rPr spc="-10" dirty="0"/>
              <a:t>information.</a:t>
            </a:r>
          </a:p>
        </p:txBody>
      </p:sp>
      <p:sp>
        <p:nvSpPr>
          <p:cNvPr id="7" name="object 7"/>
          <p:cNvSpPr/>
          <p:nvPr/>
        </p:nvSpPr>
        <p:spPr>
          <a:xfrm>
            <a:off x="896112" y="5600700"/>
            <a:ext cx="5980430" cy="6350"/>
          </a:xfrm>
          <a:custGeom>
            <a:avLst/>
            <a:gdLst/>
            <a:ahLst/>
            <a:cxnLst/>
            <a:rect l="l" t="t" r="r" b="b"/>
            <a:pathLst>
              <a:path w="5980430" h="6350">
                <a:moveTo>
                  <a:pt x="5980175" y="6096"/>
                </a:moveTo>
                <a:lnTo>
                  <a:pt x="0" y="6096"/>
                </a:lnTo>
                <a:lnTo>
                  <a:pt x="0" y="0"/>
                </a:lnTo>
                <a:lnTo>
                  <a:pt x="5980175" y="0"/>
                </a:lnTo>
                <a:lnTo>
                  <a:pt x="5980175" y="609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78991" y="8491821"/>
            <a:ext cx="5628640" cy="0"/>
          </a:xfrm>
          <a:custGeom>
            <a:avLst/>
            <a:gdLst/>
            <a:ahLst/>
            <a:cxnLst/>
            <a:rect l="l" t="t" r="r" b="b"/>
            <a:pathLst>
              <a:path w="5628640">
                <a:moveTo>
                  <a:pt x="0" y="0"/>
                </a:moveTo>
                <a:lnTo>
                  <a:pt x="5628121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1700" y="5254677"/>
            <a:ext cx="5815330" cy="3507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0" dirty="0">
                <a:solidFill>
                  <a:srgbClr val="0070BF"/>
                </a:solidFill>
                <a:latin typeface="Book Antiqua"/>
                <a:cs typeface="Book Antiqua"/>
              </a:rPr>
              <a:t>Prelab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810"/>
              </a:spcBef>
            </a:pP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Create</a:t>
            </a:r>
            <a:r>
              <a:rPr sz="1600" b="1" spc="-4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your</a:t>
            </a:r>
            <a:r>
              <a:rPr sz="1600" b="1" spc="-4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Lab05</a:t>
            </a:r>
            <a:r>
              <a:rPr sz="1600" b="1" spc="-4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Repository</a:t>
            </a:r>
            <a:r>
              <a:rPr sz="1600" b="1" spc="-20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locally</a:t>
            </a:r>
            <a:r>
              <a:rPr sz="1600" b="1" spc="-5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and</a:t>
            </a:r>
            <a:r>
              <a:rPr sz="1600" b="1" spc="-4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on</a:t>
            </a:r>
            <a:r>
              <a:rPr sz="1600" b="1" spc="-30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spc="-10" dirty="0">
                <a:solidFill>
                  <a:srgbClr val="0070BF"/>
                </a:solidFill>
                <a:latin typeface="Book Antiqua"/>
                <a:cs typeface="Book Antiqua"/>
              </a:rPr>
              <a:t>cloud</a:t>
            </a:r>
            <a:endParaRPr sz="1600">
              <a:latin typeface="Book Antiqua"/>
              <a:cs typeface="Book Antiqua"/>
            </a:endParaRPr>
          </a:p>
          <a:p>
            <a:pPr marL="12700" marR="5080">
              <a:lnSpc>
                <a:spcPct val="121200"/>
              </a:lnSpc>
              <a:spcBef>
                <a:spcPts val="680"/>
              </a:spcBef>
            </a:pPr>
            <a:r>
              <a:rPr sz="1200" dirty="0">
                <a:latin typeface="Palatino Linotype"/>
                <a:cs typeface="Palatino Linotype"/>
              </a:rPr>
              <a:t>Download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Lab05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Starter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Files,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create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local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repository,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publish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local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repository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on </a:t>
            </a:r>
            <a:r>
              <a:rPr sz="1200" dirty="0">
                <a:latin typeface="Palatino Linotype"/>
                <a:cs typeface="Palatino Linotype"/>
              </a:rPr>
              <a:t>GitHub,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share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GitHub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repository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link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instructor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same </a:t>
            </a:r>
            <a:r>
              <a:rPr sz="1200" dirty="0">
                <a:latin typeface="Palatino Linotype"/>
                <a:cs typeface="Palatino Linotype"/>
              </a:rPr>
              <a:t>document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prelab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questions.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535"/>
              </a:spcBef>
            </a:pP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Prelab</a:t>
            </a:r>
            <a:r>
              <a:rPr sz="1600" b="1" spc="-60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spc="-10" dirty="0">
                <a:solidFill>
                  <a:srgbClr val="0070BF"/>
                </a:solidFill>
                <a:latin typeface="Book Antiqua"/>
                <a:cs typeface="Book Antiqua"/>
              </a:rPr>
              <a:t>questions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some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research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yourself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answer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following</a:t>
            </a:r>
            <a:r>
              <a:rPr sz="1200" spc="-10" dirty="0">
                <a:latin typeface="Palatino Linotype"/>
                <a:cs typeface="Palatino Linotype"/>
              </a:rPr>
              <a:t> questions.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function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each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I/O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register: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DDRx,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PORTx,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PINx.</a:t>
            </a:r>
            <a:endParaRPr sz="1200">
              <a:latin typeface="Palatino Linotype"/>
              <a:cs typeface="Palatino Linotype"/>
            </a:endParaRPr>
          </a:p>
          <a:p>
            <a:pPr marL="177165" marR="899160" indent="63500">
              <a:lnSpc>
                <a:spcPct val="120800"/>
              </a:lnSpc>
              <a:spcBef>
                <a:spcPts val="10"/>
              </a:spcBef>
            </a:pPr>
            <a:r>
              <a:rPr sz="1200" dirty="0">
                <a:latin typeface="Palatino Linotype"/>
                <a:cs typeface="Palatino Linotype"/>
              </a:rPr>
              <a:t>Then,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DDRD2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0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PORTD2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explain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PD2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configured. DDRx: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</a:pPr>
            <a:r>
              <a:rPr sz="1200" spc="-10" dirty="0">
                <a:latin typeface="Palatino Linotype"/>
                <a:cs typeface="Palatino Linotype"/>
              </a:rPr>
              <a:t>PORTx: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078991" y="8961212"/>
            <a:ext cx="5552440" cy="0"/>
          </a:xfrm>
          <a:custGeom>
            <a:avLst/>
            <a:gdLst/>
            <a:ahLst/>
            <a:cxnLst/>
            <a:rect l="l" t="t" r="r" b="b"/>
            <a:pathLst>
              <a:path w="5552440">
                <a:moveTo>
                  <a:pt x="0" y="0"/>
                </a:moveTo>
                <a:lnTo>
                  <a:pt x="5552066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1811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8052" y="405141"/>
            <a:ext cx="307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78991" y="1297017"/>
            <a:ext cx="5628640" cy="0"/>
          </a:xfrm>
          <a:custGeom>
            <a:avLst/>
            <a:gdLst/>
            <a:ahLst/>
            <a:cxnLst/>
            <a:rect l="l" t="t" r="r" b="b"/>
            <a:pathLst>
              <a:path w="5628640">
                <a:moveTo>
                  <a:pt x="0" y="0"/>
                </a:moveTo>
                <a:lnTo>
                  <a:pt x="5628121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66291" y="889796"/>
            <a:ext cx="1299210" cy="6775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Palatino Linotype"/>
                <a:cs typeface="Palatino Linotype"/>
              </a:rPr>
              <a:t>PINx: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Palatino Linotype"/>
                <a:cs typeface="Palatino Linotype"/>
              </a:rPr>
              <a:t>PD2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configuration: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78991" y="1764885"/>
            <a:ext cx="4715510" cy="0"/>
          </a:xfrm>
          <a:custGeom>
            <a:avLst/>
            <a:gdLst/>
            <a:ahLst/>
            <a:cxnLst/>
            <a:rect l="l" t="t" r="r" b="b"/>
            <a:pathLst>
              <a:path w="4715510">
                <a:moveTo>
                  <a:pt x="0" y="0"/>
                </a:moveTo>
                <a:lnTo>
                  <a:pt x="4715453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1700" y="2113223"/>
            <a:ext cx="5916295" cy="1185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08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2:</a:t>
            </a:r>
            <a:r>
              <a:rPr sz="1200" b="1" spc="215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Complete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wiring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below,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briefly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explain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why</a:t>
            </a:r>
            <a:r>
              <a:rPr sz="1200" spc="-25" dirty="0">
                <a:latin typeface="Palatino Linotype"/>
                <a:cs typeface="Palatino Linotype"/>
              </a:rPr>
              <a:t> the </a:t>
            </a:r>
            <a:r>
              <a:rPr sz="1200" dirty="0">
                <a:latin typeface="Palatino Linotype"/>
                <a:cs typeface="Palatino Linotype"/>
              </a:rPr>
              <a:t>external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jumper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wires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required.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310"/>
              </a:spcBef>
              <a:tabLst>
                <a:tab pos="2469515" algn="l"/>
                <a:tab pos="3245485" algn="l"/>
              </a:tabLst>
            </a:pPr>
            <a:r>
              <a:rPr sz="1200" dirty="0">
                <a:latin typeface="Palatino Linotype"/>
                <a:cs typeface="Palatino Linotype"/>
              </a:rPr>
              <a:t>Joystick UP:</a:t>
            </a:r>
            <a:r>
              <a:rPr sz="1200" spc="50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PB3</a:t>
            </a:r>
            <a:r>
              <a:rPr sz="1200" spc="39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/</a:t>
            </a:r>
            <a:r>
              <a:rPr sz="1200" u="none" spc="36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77165" marR="2432050">
              <a:lnSpc>
                <a:spcPts val="1960"/>
              </a:lnSpc>
              <a:spcBef>
                <a:spcPts val="80"/>
              </a:spcBef>
              <a:tabLst>
                <a:tab pos="2699385" algn="l"/>
                <a:tab pos="3475354" algn="l"/>
              </a:tabLst>
            </a:pPr>
            <a:r>
              <a:rPr sz="1200" dirty="0">
                <a:latin typeface="Palatino Linotype"/>
                <a:cs typeface="Palatino Linotype"/>
              </a:rPr>
              <a:t>Joystick DOWN: PB1</a:t>
            </a:r>
            <a:r>
              <a:rPr sz="1200" spc="4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→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/</a:t>
            </a:r>
            <a:r>
              <a:rPr sz="1200" u="none" spc="36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INT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Why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are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jumper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wires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required?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078991" y="3496149"/>
            <a:ext cx="3575050" cy="0"/>
          </a:xfrm>
          <a:custGeom>
            <a:avLst/>
            <a:gdLst/>
            <a:ahLst/>
            <a:cxnLst/>
            <a:rect l="l" t="t" r="r" b="b"/>
            <a:pathLst>
              <a:path w="3575050">
                <a:moveTo>
                  <a:pt x="0" y="0"/>
                </a:moveTo>
                <a:lnTo>
                  <a:pt x="3574617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78991" y="3743037"/>
            <a:ext cx="5704205" cy="0"/>
          </a:xfrm>
          <a:custGeom>
            <a:avLst/>
            <a:gdLst/>
            <a:ahLst/>
            <a:cxnLst/>
            <a:rect l="l" t="t" r="r" b="b"/>
            <a:pathLst>
              <a:path w="5704205">
                <a:moveTo>
                  <a:pt x="0" y="0"/>
                </a:moveTo>
                <a:lnTo>
                  <a:pt x="5704177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78991" y="5201505"/>
            <a:ext cx="5628640" cy="0"/>
          </a:xfrm>
          <a:custGeom>
            <a:avLst/>
            <a:gdLst/>
            <a:ahLst/>
            <a:cxnLst/>
            <a:rect l="l" t="t" r="r" b="b"/>
            <a:pathLst>
              <a:path w="5628640">
                <a:moveTo>
                  <a:pt x="0" y="0"/>
                </a:moveTo>
                <a:lnTo>
                  <a:pt x="5628121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8991" y="5670897"/>
            <a:ext cx="5628640" cy="0"/>
          </a:xfrm>
          <a:custGeom>
            <a:avLst/>
            <a:gdLst/>
            <a:ahLst/>
            <a:cxnLst/>
            <a:rect l="l" t="t" r="r" b="b"/>
            <a:pathLst>
              <a:path w="5628640">
                <a:moveTo>
                  <a:pt x="0" y="0"/>
                </a:moveTo>
                <a:lnTo>
                  <a:pt x="5628121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078991" y="6140289"/>
            <a:ext cx="4867910" cy="0"/>
          </a:xfrm>
          <a:custGeom>
            <a:avLst/>
            <a:gdLst/>
            <a:ahLst/>
            <a:cxnLst/>
            <a:rect l="l" t="t" r="r" b="b"/>
            <a:pathLst>
              <a:path w="4867910">
                <a:moveTo>
                  <a:pt x="0" y="0"/>
                </a:moveTo>
                <a:lnTo>
                  <a:pt x="4867564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078991" y="6609681"/>
            <a:ext cx="4867910" cy="0"/>
          </a:xfrm>
          <a:custGeom>
            <a:avLst/>
            <a:gdLst/>
            <a:ahLst/>
            <a:cxnLst/>
            <a:rect l="l" t="t" r="r" b="b"/>
            <a:pathLst>
              <a:path w="4867910">
                <a:moveTo>
                  <a:pt x="0" y="0"/>
                </a:moveTo>
                <a:lnTo>
                  <a:pt x="4867564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78991" y="8810337"/>
            <a:ext cx="3346450" cy="0"/>
          </a:xfrm>
          <a:custGeom>
            <a:avLst/>
            <a:gdLst/>
            <a:ahLst/>
            <a:cxnLst/>
            <a:rect l="l" t="t" r="r" b="b"/>
            <a:pathLst>
              <a:path w="3346450">
                <a:moveTo>
                  <a:pt x="0" y="0"/>
                </a:moveTo>
                <a:lnTo>
                  <a:pt x="3346450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1700" y="4089850"/>
            <a:ext cx="5950585" cy="4991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marR="170815" indent="-228600">
              <a:lnSpc>
                <a:spcPct val="121200"/>
              </a:lnSpc>
              <a:spcBef>
                <a:spcPts val="10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3:</a:t>
            </a:r>
            <a:r>
              <a:rPr sz="1200" b="1" spc="21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external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purpose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EICRA,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EIMSK,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SREG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I-</a:t>
            </a:r>
            <a:r>
              <a:rPr sz="1200" dirty="0">
                <a:latin typeface="Palatino Linotype"/>
                <a:cs typeface="Palatino Linotype"/>
              </a:rPr>
              <a:t>bit/SEI,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vector.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determines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whether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is </a:t>
            </a:r>
            <a:r>
              <a:rPr sz="1200" dirty="0">
                <a:latin typeface="Palatino Linotype"/>
                <a:cs typeface="Palatino Linotype"/>
              </a:rPr>
              <a:t>triggered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rising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falling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edge?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315"/>
              </a:spcBef>
            </a:pPr>
            <a:r>
              <a:rPr sz="1200" spc="-10" dirty="0">
                <a:latin typeface="Palatino Linotype"/>
                <a:cs typeface="Palatino Linotype"/>
              </a:rPr>
              <a:t>EICRA: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</a:pPr>
            <a:r>
              <a:rPr sz="1200" spc="-10" dirty="0">
                <a:latin typeface="Palatino Linotype"/>
                <a:cs typeface="Palatino Linotype"/>
              </a:rPr>
              <a:t>EIMSK: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2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</a:pPr>
            <a:r>
              <a:rPr sz="1200" dirty="0">
                <a:latin typeface="Palatino Linotype"/>
                <a:cs typeface="Palatino Linotype"/>
              </a:rPr>
              <a:t>SREG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I-bit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/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SEI: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</a:pPr>
            <a:r>
              <a:rPr sz="1200" dirty="0">
                <a:latin typeface="Palatino Linotype"/>
                <a:cs typeface="Palatino Linotype"/>
              </a:rPr>
              <a:t>Interrupt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vector: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tabLst>
                <a:tab pos="5937250" algn="l"/>
              </a:tabLst>
            </a:pPr>
            <a:r>
              <a:rPr sz="1200" spc="-10" dirty="0">
                <a:latin typeface="Palatino Linotype"/>
                <a:cs typeface="Palatino Linotype"/>
              </a:rPr>
              <a:t>Rising/falling-</a:t>
            </a:r>
            <a:r>
              <a:rPr sz="1200" dirty="0">
                <a:latin typeface="Palatino Linotype"/>
                <a:cs typeface="Palatino Linotype"/>
              </a:rPr>
              <a:t>edge selection is controlled by: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75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15240" indent="-228600">
              <a:lnSpc>
                <a:spcPct val="121200"/>
              </a:lnSpc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4:</a:t>
            </a:r>
            <a:r>
              <a:rPr sz="1200" b="1" spc="215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change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while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main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25" dirty="0">
                <a:latin typeface="Palatino Linotype"/>
                <a:cs typeface="Palatino Linotype"/>
              </a:rPr>
              <a:t> to </a:t>
            </a:r>
            <a:r>
              <a:rPr sz="1200" dirty="0">
                <a:latin typeface="Palatino Linotype"/>
                <a:cs typeface="Palatino Linotype"/>
              </a:rPr>
              <a:t>control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rate.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Complete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logic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below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what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happen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the </a:t>
            </a:r>
            <a:r>
              <a:rPr sz="1200" dirty="0">
                <a:latin typeface="Palatino Linotype"/>
                <a:cs typeface="Palatino Linotype"/>
              </a:rPr>
              <a:t>two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limits.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300"/>
              </a:spcBef>
              <a:tabLst>
                <a:tab pos="2131695" algn="l"/>
                <a:tab pos="4104640" algn="l"/>
              </a:tabLst>
            </a:pPr>
            <a:r>
              <a:rPr sz="1200" dirty="0">
                <a:latin typeface="Palatino Linotype"/>
                <a:cs typeface="Palatino Linotype"/>
              </a:rPr>
              <a:t>UP ISR:</a:t>
            </a:r>
            <a:r>
              <a:rPr sz="1200" spc="165" dirty="0">
                <a:latin typeface="Palatino Linotype"/>
                <a:cs typeface="Palatino Linotype"/>
              </a:rPr>
              <a:t>  </a:t>
            </a:r>
            <a:r>
              <a:rPr sz="1200" dirty="0">
                <a:latin typeface="Palatino Linotype"/>
                <a:cs typeface="Palatino Linotype"/>
              </a:rPr>
              <a:t>if BlinkFreq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15, then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spc="-10" dirty="0">
                <a:latin typeface="Palatino Linotype"/>
                <a:cs typeface="Palatino Linotype"/>
              </a:rPr>
              <a:t>BlinkFreq</a:t>
            </a:r>
            <a:endParaRPr sz="1200">
              <a:latin typeface="Palatino Linotype"/>
              <a:cs typeface="Palatino Linotype"/>
            </a:endParaRPr>
          </a:p>
          <a:p>
            <a:pPr marL="177165" marR="984885">
              <a:lnSpc>
                <a:spcPct val="135000"/>
              </a:lnSpc>
              <a:spcBef>
                <a:spcPts val="10"/>
              </a:spcBef>
              <a:tabLst>
                <a:tab pos="2360930" algn="l"/>
                <a:tab pos="4297045" algn="l"/>
              </a:tabLst>
            </a:pPr>
            <a:r>
              <a:rPr sz="1200" dirty="0">
                <a:latin typeface="Palatino Linotype"/>
                <a:cs typeface="Palatino Linotype"/>
              </a:rPr>
              <a:t>DOWN ISR: if BlinkFreq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1,</a:t>
            </a:r>
            <a:r>
              <a:rPr sz="1200" u="none" spc="35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then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spc="-10" dirty="0">
                <a:latin typeface="Palatino Linotype"/>
                <a:cs typeface="Palatino Linotype"/>
              </a:rPr>
              <a:t>BlinkFreq </a:t>
            </a:r>
            <a:r>
              <a:rPr sz="1200" u="none" dirty="0">
                <a:latin typeface="Palatino Linotype"/>
                <a:cs typeface="Palatino Linotype"/>
              </a:rPr>
              <a:t>If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BlinkFreq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=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15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and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UP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selected:</a:t>
            </a:r>
            <a:endParaRPr sz="1200">
              <a:latin typeface="Palatino Linotype"/>
              <a:cs typeface="Palatino Linotype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Palatino Linotype"/>
                <a:cs typeface="Palatino Linotype"/>
              </a:rPr>
              <a:t>If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DOWN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selected: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78991" y="9278204"/>
            <a:ext cx="3270885" cy="0"/>
          </a:xfrm>
          <a:custGeom>
            <a:avLst/>
            <a:gdLst/>
            <a:ahLst/>
            <a:cxnLst/>
            <a:rect l="l" t="t" r="r" b="b"/>
            <a:pathLst>
              <a:path w="3270885">
                <a:moveTo>
                  <a:pt x="0" y="0"/>
                </a:moveTo>
                <a:lnTo>
                  <a:pt x="3270395" y="0"/>
                </a:lnTo>
              </a:path>
            </a:pathLst>
          </a:custGeom>
          <a:ln w="89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1811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8052" y="405141"/>
            <a:ext cx="307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9825"/>
            <a:ext cx="5861050" cy="36849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marR="5080" indent="-228600">
              <a:lnSpc>
                <a:spcPct val="1217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5: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LED0–</a:t>
            </a:r>
            <a:r>
              <a:rPr sz="1200" dirty="0">
                <a:latin typeface="Palatino Linotype"/>
                <a:cs typeface="Palatino Linotype"/>
              </a:rPr>
              <a:t>LED3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display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4-</a:t>
            </a:r>
            <a:r>
              <a:rPr sz="1200" dirty="0">
                <a:latin typeface="Palatino Linotype"/>
                <a:cs typeface="Palatino Linotype"/>
              </a:rPr>
              <a:t>bit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binary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PORTC.3:0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(PC3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MSB, </a:t>
            </a:r>
            <a:r>
              <a:rPr sz="1200" dirty="0">
                <a:latin typeface="Palatino Linotype"/>
                <a:cs typeface="Palatino Linotype"/>
              </a:rPr>
              <a:t>PC0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LSB).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Write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output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bits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each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value.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300"/>
              </a:spcBef>
              <a:tabLst>
                <a:tab pos="2924810" algn="l"/>
                <a:tab pos="3305175" algn="l"/>
                <a:tab pos="3686810" algn="l"/>
                <a:tab pos="4067175" algn="l"/>
              </a:tabLst>
            </a:pP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1:</a:t>
            </a:r>
            <a:r>
              <a:rPr sz="1200" spc="140" dirty="0">
                <a:latin typeface="Palatino Linotype"/>
                <a:cs typeface="Palatino Linotype"/>
              </a:rPr>
              <a:t>  </a:t>
            </a:r>
            <a:r>
              <a:rPr sz="1200" dirty="0">
                <a:latin typeface="Palatino Linotype"/>
                <a:cs typeface="Palatino Linotype"/>
              </a:rPr>
              <a:t>PC3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PC2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PC1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PC0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  <a:spcBef>
                <a:spcPts val="500"/>
              </a:spcBef>
              <a:tabLst>
                <a:tab pos="2924810" algn="l"/>
                <a:tab pos="3305175" algn="l"/>
                <a:tab pos="3686810" algn="l"/>
                <a:tab pos="4067175" algn="l"/>
              </a:tabLst>
            </a:pP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5:</a:t>
            </a:r>
            <a:r>
              <a:rPr sz="1200" spc="140" dirty="0">
                <a:latin typeface="Palatino Linotype"/>
                <a:cs typeface="Palatino Linotype"/>
              </a:rPr>
              <a:t>  </a:t>
            </a:r>
            <a:r>
              <a:rPr sz="1200" dirty="0">
                <a:latin typeface="Palatino Linotype"/>
                <a:cs typeface="Palatino Linotype"/>
              </a:rPr>
              <a:t>PC3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PC2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PC1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PC0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  <a:spcBef>
                <a:spcPts val="520"/>
              </a:spcBef>
              <a:tabLst>
                <a:tab pos="2962910" algn="l"/>
                <a:tab pos="3344545" algn="l"/>
                <a:tab pos="3724910" algn="l"/>
                <a:tab pos="4105275" algn="l"/>
              </a:tabLst>
            </a:pP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10:</a:t>
            </a:r>
            <a:r>
              <a:rPr sz="1200" spc="28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PC3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PC2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PC1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PC0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 marL="177165">
              <a:lnSpc>
                <a:spcPct val="100000"/>
              </a:lnSpc>
              <a:spcBef>
                <a:spcPts val="500"/>
              </a:spcBef>
              <a:tabLst>
                <a:tab pos="2962910" algn="l"/>
                <a:tab pos="3344545" algn="l"/>
                <a:tab pos="3724910" algn="l"/>
                <a:tab pos="4105275" algn="l"/>
              </a:tabLst>
            </a:pP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15:</a:t>
            </a:r>
            <a:r>
              <a:rPr sz="1200" spc="28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PC3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PC2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PC1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PC0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Times New Roman"/>
                <a:cs typeface="Times New Roman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6:</a:t>
            </a:r>
            <a:r>
              <a:rPr sz="1200" b="1" spc="215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Assume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BlinkFreq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=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6.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presses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releases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joystick.</a:t>
            </a:r>
            <a:endParaRPr sz="1200">
              <a:latin typeface="Palatino Linotype"/>
              <a:cs typeface="Palatino Linotype"/>
            </a:endParaRPr>
          </a:p>
          <a:p>
            <a:pPr marL="241300">
              <a:lnSpc>
                <a:spcPct val="100000"/>
              </a:lnSpc>
              <a:spcBef>
                <a:spcPts val="315"/>
              </a:spcBef>
            </a:pPr>
            <a:r>
              <a:rPr sz="1200" dirty="0">
                <a:latin typeface="Palatino Linotype"/>
                <a:cs typeface="Palatino Linotype"/>
              </a:rPr>
              <a:t>Number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following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events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order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occur.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310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A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rising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edge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occurs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on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interrupt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pin.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05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corresponding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ISR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begins.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05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BlinkFreq</a:t>
            </a:r>
            <a:r>
              <a:rPr sz="1200" u="none" spc="-4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becomes</a:t>
            </a:r>
            <a:r>
              <a:rPr sz="1200" u="none" spc="-50" dirty="0">
                <a:latin typeface="Palatino Linotype"/>
                <a:cs typeface="Palatino Linotype"/>
              </a:rPr>
              <a:t> </a:t>
            </a:r>
            <a:r>
              <a:rPr sz="1200" u="none" spc="-25" dirty="0">
                <a:latin typeface="Palatino Linotype"/>
                <a:cs typeface="Palatino Linotype"/>
              </a:rPr>
              <a:t>7.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00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LEDs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0–</a:t>
            </a:r>
            <a:r>
              <a:rPr sz="1200" u="none" dirty="0">
                <a:latin typeface="Palatino Linotype"/>
                <a:cs typeface="Palatino Linotype"/>
              </a:rPr>
              <a:t>3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display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0111.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20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RETI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returns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control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main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program.</a:t>
            </a:r>
            <a:endParaRPr sz="1200">
              <a:latin typeface="Palatino Linotype"/>
              <a:cs typeface="Palatino Linotype"/>
            </a:endParaRPr>
          </a:p>
          <a:p>
            <a:pPr marL="177165">
              <a:lnSpc>
                <a:spcPct val="100000"/>
              </a:lnSpc>
              <a:spcBef>
                <a:spcPts val="500"/>
              </a:spcBef>
              <a:tabLst>
                <a:tab pos="440690" algn="l"/>
              </a:tabLst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main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program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uses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new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blink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rate.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96112" y="5297423"/>
            <a:ext cx="5980430" cy="6350"/>
          </a:xfrm>
          <a:custGeom>
            <a:avLst/>
            <a:gdLst/>
            <a:ahLst/>
            <a:cxnLst/>
            <a:rect l="l" t="t" r="r" b="b"/>
            <a:pathLst>
              <a:path w="5980430" h="6350">
                <a:moveTo>
                  <a:pt x="5980175" y="6096"/>
                </a:moveTo>
                <a:lnTo>
                  <a:pt x="0" y="6096"/>
                </a:lnTo>
                <a:lnTo>
                  <a:pt x="0" y="0"/>
                </a:lnTo>
                <a:lnTo>
                  <a:pt x="5980175" y="0"/>
                </a:lnTo>
                <a:lnTo>
                  <a:pt x="5980175" y="609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01700" y="4949877"/>
            <a:ext cx="5918200" cy="38976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dirty="0">
                <a:solidFill>
                  <a:srgbClr val="0070BF"/>
                </a:solidFill>
                <a:latin typeface="Book Antiqua"/>
                <a:cs typeface="Book Antiqua"/>
              </a:rPr>
              <a:t>Lab</a:t>
            </a:r>
            <a:r>
              <a:rPr sz="1800" b="1" spc="-30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800" b="1" spc="-10" dirty="0">
                <a:solidFill>
                  <a:srgbClr val="0070BF"/>
                </a:solidFill>
                <a:latin typeface="Book Antiqua"/>
                <a:cs typeface="Book Antiqua"/>
              </a:rPr>
              <a:t>Procedure</a:t>
            </a:r>
            <a:endParaRPr sz="18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820"/>
              </a:spcBef>
            </a:pP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Initial</a:t>
            </a:r>
            <a:r>
              <a:rPr sz="1600" b="1" spc="-5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Code</a:t>
            </a:r>
            <a:r>
              <a:rPr sz="1600" b="1" spc="-35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spc="-20" dirty="0">
                <a:solidFill>
                  <a:srgbClr val="0070BF"/>
                </a:solidFill>
                <a:latin typeface="Book Antiqua"/>
                <a:cs typeface="Book Antiqua"/>
              </a:rPr>
              <a:t>Edits</a:t>
            </a:r>
            <a:endParaRPr sz="16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1200" dirty="0">
                <a:latin typeface="Palatino Linotype"/>
                <a:cs typeface="Palatino Linotype"/>
              </a:rPr>
              <a:t>Open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nsolas"/>
                <a:cs typeface="Consolas"/>
              </a:rPr>
              <a:t>Lab05.asm</a:t>
            </a:r>
            <a:r>
              <a:rPr sz="1200" spc="-130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file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notice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it’s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same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begin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your</a:t>
            </a:r>
            <a:endParaRPr sz="120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200" spc="-10" dirty="0">
                <a:latin typeface="Consolas"/>
                <a:cs typeface="Consolas"/>
              </a:rPr>
              <a:t>Lab02</a:t>
            </a:r>
            <a:r>
              <a:rPr sz="1200" spc="-355" dirty="0">
                <a:latin typeface="Consolas"/>
                <a:cs typeface="Consolas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assignment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few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weeks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ago.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Make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following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changes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file:</a:t>
            </a:r>
            <a:endParaRPr sz="1200">
              <a:latin typeface="Palatino Linotype"/>
              <a:cs typeface="Palatino Linotype"/>
            </a:endParaRPr>
          </a:p>
          <a:p>
            <a:pPr marL="469900" marR="5080" indent="-228600">
              <a:lnSpc>
                <a:spcPct val="121200"/>
              </a:lnSpc>
              <a:spcBef>
                <a:spcPts val="605"/>
              </a:spcBef>
              <a:buFont typeface="Palatino Linotype"/>
              <a:buAutoNum type="arabicPeriod"/>
              <a:tabLst>
                <a:tab pos="469900" algn="l"/>
              </a:tabLst>
            </a:pPr>
            <a:r>
              <a:rPr sz="1200" b="1" dirty="0">
                <a:latin typeface="Book Antiqua"/>
                <a:cs typeface="Book Antiqua"/>
              </a:rPr>
              <a:t>Update</a:t>
            </a:r>
            <a:r>
              <a:rPr sz="1200" b="1" spc="-3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the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program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header</a:t>
            </a:r>
            <a:r>
              <a:rPr sz="1200" b="1" spc="-5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reflect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new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program’s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operation.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Mention</a:t>
            </a:r>
            <a:r>
              <a:rPr sz="1200" spc="50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“BOOT”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(connected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PORTA.7</a:t>
            </a:r>
            <a:r>
              <a:rPr sz="1200" dirty="0">
                <a:latin typeface="Palatino Linotype"/>
                <a:cs typeface="Palatino Linotype"/>
              </a:rPr>
              <a:t>)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~1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15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Hz,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adjustable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15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steps,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toggled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(faster)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down </a:t>
            </a:r>
            <a:r>
              <a:rPr sz="1200" dirty="0">
                <a:latin typeface="Palatino Linotype"/>
                <a:cs typeface="Palatino Linotype"/>
              </a:rPr>
              <a:t>(slower),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displayed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4-</a:t>
            </a:r>
            <a:r>
              <a:rPr sz="1200" dirty="0">
                <a:latin typeface="Palatino Linotype"/>
                <a:cs typeface="Palatino Linotype"/>
              </a:rPr>
              <a:t>bit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binary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0-</a:t>
            </a:r>
            <a:r>
              <a:rPr sz="1200" dirty="0">
                <a:latin typeface="Palatino Linotype"/>
                <a:cs typeface="Palatino Linotype"/>
              </a:rPr>
              <a:t>3,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which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connected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PORTC.0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(LSB)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through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PORTC.3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spc="-10" dirty="0">
                <a:latin typeface="Book Antiqua"/>
                <a:cs typeface="Book Antiqua"/>
              </a:rPr>
              <a:t>(MSB)</a:t>
            </a:r>
            <a:r>
              <a:rPr sz="1200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469900" marR="109855">
              <a:lnSpc>
                <a:spcPct val="121400"/>
              </a:lnSpc>
              <a:spcBef>
                <a:spcPts val="5"/>
              </a:spcBef>
            </a:pPr>
            <a:r>
              <a:rPr sz="1200" dirty="0">
                <a:latin typeface="Palatino Linotype"/>
                <a:cs typeface="Palatino Linotype"/>
              </a:rPr>
              <a:t>Note: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display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must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only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update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after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is </a:t>
            </a:r>
            <a:r>
              <a:rPr sz="1200" b="1" i="1" dirty="0">
                <a:latin typeface="Book Antiqua"/>
                <a:cs typeface="Book Antiqua"/>
              </a:rPr>
              <a:t>released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Pressing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holding</a:t>
            </a:r>
            <a:r>
              <a:rPr sz="1200" i="1" spc="-10" dirty="0">
                <a:latin typeface="Book Antiqua"/>
                <a:cs typeface="Book Antiqua"/>
              </a:rPr>
              <a:t> </a:t>
            </a:r>
            <a:r>
              <a:rPr sz="1200" i="1" dirty="0">
                <a:latin typeface="Book Antiqua"/>
                <a:cs typeface="Book Antiqua"/>
              </a:rPr>
              <a:t>it</a:t>
            </a:r>
            <a:r>
              <a:rPr sz="1200" i="1" spc="-25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have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effect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until </a:t>
            </a:r>
            <a:r>
              <a:rPr sz="1200" dirty="0">
                <a:latin typeface="Palatino Linotype"/>
                <a:cs typeface="Palatino Linotype"/>
              </a:rPr>
              <a:t>released.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Only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increase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(assuming,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course,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25" dirty="0">
                <a:latin typeface="Palatino Linotype"/>
                <a:cs typeface="Palatino Linotype"/>
              </a:rPr>
              <a:t> it </a:t>
            </a:r>
            <a:r>
              <a:rPr sz="1200" dirty="0">
                <a:latin typeface="Palatino Linotype"/>
                <a:cs typeface="Palatino Linotype"/>
              </a:rPr>
              <a:t>wasn’t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already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15,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case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nothing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change).</a:t>
            </a:r>
            <a:endParaRPr sz="1200">
              <a:latin typeface="Palatino Linotype"/>
              <a:cs typeface="Palatino Linotype"/>
            </a:endParaRPr>
          </a:p>
          <a:p>
            <a:pPr marL="469900" marR="371475" indent="-228600">
              <a:lnSpc>
                <a:spcPct val="121700"/>
              </a:lnSpc>
              <a:spcBef>
                <a:spcPts val="585"/>
              </a:spcBef>
              <a:buAutoNum type="arabicPeriod" startAt="2"/>
              <a:tabLst>
                <a:tab pos="469900" algn="l"/>
              </a:tabLst>
            </a:pPr>
            <a:r>
              <a:rPr sz="1200" dirty="0">
                <a:latin typeface="Palatino Linotype"/>
                <a:cs typeface="Palatino Linotype"/>
              </a:rPr>
              <a:t>Create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these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define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equate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statements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make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more </a:t>
            </a:r>
            <a:r>
              <a:rPr sz="1200" spc="-10" dirty="0">
                <a:latin typeface="Palatino Linotype"/>
                <a:cs typeface="Palatino Linotype"/>
              </a:rPr>
              <a:t>readable: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1700" y="8902988"/>
            <a:ext cx="1577975" cy="395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.def</a:t>
            </a:r>
            <a:r>
              <a:rPr sz="12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.equ</a:t>
            </a:r>
            <a:r>
              <a:rPr sz="12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BlinkFreqMin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10530" y="8902988"/>
            <a:ext cx="3859529" cy="395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R20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;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holds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current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blink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rate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(1-</a:t>
            </a:r>
            <a:r>
              <a:rPr sz="1200" dirty="0">
                <a:latin typeface="Courier New"/>
                <a:cs typeface="Courier New"/>
              </a:rPr>
              <a:t>15</a:t>
            </a:r>
            <a:r>
              <a:rPr sz="1200" spc="-25" dirty="0">
                <a:latin typeface="Courier New"/>
                <a:cs typeface="Courier New"/>
              </a:rPr>
              <a:t> Hz)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50" dirty="0">
                <a:latin typeface="Courier New"/>
                <a:cs typeface="Courier New"/>
              </a:rPr>
              <a:t>1</a:t>
            </a:r>
            <a:endParaRPr sz="12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2399665" cy="659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tabLst>
                <a:tab pos="2021205" algn="l"/>
              </a:tabLst>
            </a:pP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.equ</a:t>
            </a:r>
            <a:r>
              <a:rPr sz="12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BlinkFreqMax</a:t>
            </a:r>
            <a:r>
              <a:rPr sz="1200" dirty="0">
                <a:latin typeface="Courier New"/>
                <a:cs typeface="Courier New"/>
              </a:rPr>
              <a:t>	=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25" dirty="0">
                <a:latin typeface="Courier New"/>
                <a:cs typeface="Courier New"/>
              </a:rPr>
              <a:t>15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8052" y="405141"/>
            <a:ext cx="307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12800" y="1042196"/>
            <a:ext cx="6176645" cy="8319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16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0000FF"/>
                </a:solidFill>
                <a:latin typeface="Courier New"/>
                <a:cs typeface="Courier New"/>
              </a:rPr>
              <a:t>.equ</a:t>
            </a:r>
            <a:r>
              <a:rPr sz="1200" spc="-5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InitialBlinkFreq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BlinkFreqMin</a:t>
            </a:r>
            <a:endParaRPr sz="1200">
              <a:latin typeface="Courier New"/>
              <a:cs typeface="Courier New"/>
            </a:endParaRPr>
          </a:p>
          <a:p>
            <a:pPr marL="558800" marR="201930" indent="-228600">
              <a:lnSpc>
                <a:spcPct val="121500"/>
              </a:lnSpc>
              <a:spcBef>
                <a:spcPts val="580"/>
              </a:spcBef>
              <a:buAutoNum type="arabicPeriod" startAt="3"/>
              <a:tabLst>
                <a:tab pos="558800" algn="l"/>
              </a:tabLst>
            </a:pPr>
            <a:r>
              <a:rPr sz="1200" dirty="0">
                <a:latin typeface="Palatino Linotype"/>
                <a:cs typeface="Palatino Linotype"/>
              </a:rPr>
              <a:t>Since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PORTA.7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PORTC.3:0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for </a:t>
            </a:r>
            <a:r>
              <a:rPr sz="1200" dirty="0">
                <a:latin typeface="Palatino Linotype"/>
                <a:cs typeface="Palatino Linotype"/>
              </a:rPr>
              <a:t>displaying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4-</a:t>
            </a:r>
            <a:r>
              <a:rPr sz="1200" dirty="0">
                <a:latin typeface="Palatino Linotype"/>
                <a:cs typeface="Palatino Linotype"/>
              </a:rPr>
              <a:t>bit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configure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those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five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output</a:t>
            </a:r>
            <a:r>
              <a:rPr sz="1200" b="1" spc="-1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pins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via</a:t>
            </a:r>
            <a:r>
              <a:rPr sz="1200" spc="-25" dirty="0">
                <a:latin typeface="Palatino Linotype"/>
                <a:cs typeface="Palatino Linotype"/>
              </a:rPr>
              <a:t> the </a:t>
            </a:r>
            <a:r>
              <a:rPr sz="1200" dirty="0">
                <a:latin typeface="Palatino Linotype"/>
                <a:cs typeface="Palatino Linotype"/>
              </a:rPr>
              <a:t>DDRA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DDRC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registers.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remaining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inputs.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You’ll </a:t>
            </a:r>
            <a:r>
              <a:rPr sz="1200" dirty="0">
                <a:latin typeface="Palatino Linotype"/>
                <a:cs typeface="Palatino Linotype"/>
              </a:rPr>
              <a:t>need</a:t>
            </a:r>
            <a:r>
              <a:rPr sz="1200" spc="-6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update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Courier New"/>
                <a:cs typeface="Courier New"/>
              </a:rPr>
              <a:t>sbi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cbi</a:t>
            </a:r>
            <a:r>
              <a:rPr sz="1200" spc="-4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instructions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well.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sure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update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spc="-25" dirty="0">
                <a:latin typeface="Book Antiqua"/>
                <a:cs typeface="Book Antiqua"/>
              </a:rPr>
              <a:t>any </a:t>
            </a:r>
            <a:r>
              <a:rPr sz="1200" b="1" dirty="0">
                <a:latin typeface="Book Antiqua"/>
                <a:cs typeface="Book Antiqua"/>
              </a:rPr>
              <a:t>and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all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related</a:t>
            </a:r>
            <a:r>
              <a:rPr sz="1200" b="1" spc="-1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code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spc="-10" dirty="0">
                <a:latin typeface="Book Antiqua"/>
                <a:cs typeface="Book Antiqua"/>
              </a:rPr>
              <a:t>comments</a:t>
            </a:r>
            <a:r>
              <a:rPr sz="1200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558165" indent="-227965">
              <a:lnSpc>
                <a:spcPct val="100000"/>
              </a:lnSpc>
              <a:spcBef>
                <a:spcPts val="900"/>
              </a:spcBef>
              <a:buAutoNum type="arabicPeriod" startAt="3"/>
              <a:tabLst>
                <a:tab pos="558165" algn="l"/>
              </a:tabLst>
            </a:pP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both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outer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delay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loops,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don’t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load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R16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40,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rather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with</a:t>
            </a:r>
            <a:endParaRPr sz="1200">
              <a:latin typeface="Palatino Linotype"/>
              <a:cs typeface="Palatino Linotype"/>
            </a:endParaRPr>
          </a:p>
          <a:p>
            <a:pPr marR="24765" algn="ctr">
              <a:lnSpc>
                <a:spcPct val="100000"/>
              </a:lnSpc>
              <a:spcBef>
                <a:spcPts val="790"/>
              </a:spcBef>
            </a:pPr>
            <a:r>
              <a:rPr sz="1200" spc="-45" dirty="0">
                <a:latin typeface="Cambria"/>
                <a:cs typeface="Cambria"/>
              </a:rPr>
              <a:t>16</a:t>
            </a:r>
            <a:r>
              <a:rPr sz="1275" spc="-67" baseline="-16339" dirty="0">
                <a:latin typeface="Cambria"/>
                <a:cs typeface="Cambria"/>
              </a:rPr>
              <a:t>ଵ଴</a:t>
            </a:r>
            <a:r>
              <a:rPr sz="1275" spc="127" baseline="-16339" dirty="0">
                <a:latin typeface="Cambria"/>
                <a:cs typeface="Cambria"/>
              </a:rPr>
              <a:t> </a:t>
            </a:r>
            <a:r>
              <a:rPr sz="1200" spc="229" dirty="0">
                <a:latin typeface="Cambria"/>
                <a:cs typeface="Cambria"/>
              </a:rPr>
              <a:t>−</a:t>
            </a:r>
            <a:r>
              <a:rPr sz="1200" spc="-25" dirty="0">
                <a:latin typeface="Cambria"/>
                <a:cs typeface="Cambria"/>
              </a:rPr>
              <a:t> </a:t>
            </a:r>
            <a:r>
              <a:rPr sz="1200" spc="-10" dirty="0">
                <a:latin typeface="Cambria"/>
                <a:cs typeface="Cambria"/>
              </a:rPr>
              <a:t>𝐵𝑙𝑖𝑛𝑘𝐹𝑟𝑒𝑞</a:t>
            </a:r>
            <a:endParaRPr sz="1200">
              <a:latin typeface="Cambria"/>
              <a:cs typeface="Cambria"/>
            </a:endParaRPr>
          </a:p>
          <a:p>
            <a:pPr marL="558800" marR="132080" algn="just">
              <a:lnSpc>
                <a:spcPct val="121700"/>
              </a:lnSpc>
              <a:spcBef>
                <a:spcPts val="375"/>
              </a:spcBef>
            </a:pPr>
            <a:r>
              <a:rPr sz="1200" dirty="0">
                <a:latin typeface="Palatino Linotype"/>
                <a:cs typeface="Palatino Linotype"/>
              </a:rPr>
              <a:t>(Remember,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spc="-40" dirty="0">
                <a:latin typeface="Courier New"/>
                <a:cs typeface="Courier New"/>
              </a:rPr>
              <a:t>BlinkFreq</a:t>
            </a:r>
            <a:r>
              <a:rPr sz="1200" spc="-145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updated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by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 ISRs and holds the most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current </a:t>
            </a:r>
            <a:r>
              <a:rPr sz="1200" spc="-10" dirty="0">
                <a:latin typeface="Palatino Linotype"/>
                <a:cs typeface="Palatino Linotype"/>
              </a:rPr>
              <a:t>blink </a:t>
            </a:r>
            <a:r>
              <a:rPr sz="1200" dirty="0">
                <a:latin typeface="Palatino Linotype"/>
                <a:cs typeface="Palatino Linotype"/>
              </a:rPr>
              <a:t>rate.)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Loading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R24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R25</a:t>
            </a:r>
            <a:r>
              <a:rPr sz="1200" spc="-6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65" dirty="0">
                <a:latin typeface="Palatino Linotype"/>
                <a:cs typeface="Palatino Linotype"/>
              </a:rPr>
              <a:t> </a:t>
            </a:r>
            <a:r>
              <a:rPr sz="1200" spc="-65" dirty="0">
                <a:latin typeface="Courier New"/>
                <a:cs typeface="Courier New"/>
              </a:rPr>
              <a:t>0xFFFF</a:t>
            </a:r>
            <a:r>
              <a:rPr sz="1200" spc="-114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instead</a:t>
            </a:r>
            <a:r>
              <a:rPr sz="1200" spc="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45" dirty="0">
                <a:latin typeface="Palatino Linotype"/>
                <a:cs typeface="Palatino Linotype"/>
              </a:rPr>
              <a:t> </a:t>
            </a:r>
            <a:r>
              <a:rPr sz="1200" spc="-65" dirty="0">
                <a:latin typeface="Courier New"/>
                <a:cs typeface="Courier New"/>
              </a:rPr>
              <a:t>0x4000</a:t>
            </a:r>
            <a:r>
              <a:rPr sz="1200" spc="-120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give</a:t>
            </a:r>
            <a:r>
              <a:rPr sz="1200" spc="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3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~1Hz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when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</a:t>
            </a:r>
            <a:r>
              <a:rPr sz="1200" spc="-409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 value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1.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Your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program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must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default</a:t>
            </a:r>
            <a:r>
              <a:rPr sz="1200" u="sng" spc="-1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to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a</a:t>
            </a:r>
            <a:endParaRPr sz="1200">
              <a:latin typeface="Palatino Linotype"/>
              <a:cs typeface="Palatino Linotype"/>
            </a:endParaRPr>
          </a:p>
          <a:p>
            <a:pPr marL="558800" algn="just">
              <a:lnSpc>
                <a:spcPct val="100000"/>
              </a:lnSpc>
              <a:spcBef>
                <a:spcPts val="300"/>
              </a:spcBef>
            </a:pP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~1Hz</a:t>
            </a:r>
            <a:r>
              <a:rPr sz="1200" u="sng" spc="-25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blink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rate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at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Palatino Linotype"/>
                <a:cs typeface="Palatino Linotype"/>
              </a:rPr>
              <a:t>startup</a:t>
            </a:r>
            <a:r>
              <a:rPr sz="1200" u="none" spc="-10" dirty="0">
                <a:latin typeface="Palatino Linotype"/>
                <a:cs typeface="Palatino Linotype"/>
              </a:rPr>
              <a:t>.</a:t>
            </a:r>
            <a:endParaRPr sz="1200">
              <a:latin typeface="Palatino Linotype"/>
              <a:cs typeface="Palatino Linotype"/>
            </a:endParaRPr>
          </a:p>
          <a:p>
            <a:pPr marL="330200" marR="354965" indent="-228600" algn="just">
              <a:lnSpc>
                <a:spcPct val="120800"/>
              </a:lnSpc>
              <a:spcBef>
                <a:spcPts val="81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1: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equation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section.</a:t>
            </a:r>
            <a:r>
              <a:rPr sz="1200" spc="27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(Can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short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answer</a:t>
            </a:r>
            <a:r>
              <a:rPr sz="1200" spc="-25" dirty="0">
                <a:latin typeface="Palatino Linotype"/>
                <a:cs typeface="Palatino Linotype"/>
              </a:rPr>
              <a:t> for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question,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give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more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background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report.)</a:t>
            </a:r>
            <a:endParaRPr sz="1200">
              <a:latin typeface="Palatino Linotype"/>
              <a:cs typeface="Palatino Linotype"/>
            </a:endParaRPr>
          </a:p>
          <a:p>
            <a:pPr marL="558165" indent="-227965">
              <a:lnSpc>
                <a:spcPct val="100000"/>
              </a:lnSpc>
              <a:spcBef>
                <a:spcPts val="910"/>
              </a:spcBef>
              <a:buFont typeface="Palatino Linotype"/>
              <a:buAutoNum type="arabicPeriod" startAt="5"/>
              <a:tabLst>
                <a:tab pos="558165" algn="l"/>
              </a:tabLst>
            </a:pPr>
            <a:r>
              <a:rPr sz="1200" b="1" dirty="0">
                <a:latin typeface="Book Antiqua"/>
                <a:cs typeface="Book Antiqua"/>
              </a:rPr>
              <a:t>Test</a:t>
            </a:r>
            <a:r>
              <a:rPr sz="1200" b="1" spc="-3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that</a:t>
            </a:r>
            <a:r>
              <a:rPr sz="1200" b="1" spc="-4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the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“BOOT”</a:t>
            </a:r>
            <a:r>
              <a:rPr sz="1200" b="1" spc="-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LED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actually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blinks</a:t>
            </a:r>
            <a:r>
              <a:rPr sz="1200" b="1" spc="-2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at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about</a:t>
            </a:r>
            <a:r>
              <a:rPr sz="1200" b="1" spc="-3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1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Hz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50%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duty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cycle.</a:t>
            </a:r>
            <a:endParaRPr sz="1200">
              <a:latin typeface="Palatino Linotype"/>
              <a:cs typeface="Palatino Linotype"/>
            </a:endParaRPr>
          </a:p>
          <a:p>
            <a:pPr marL="558800" algn="just">
              <a:lnSpc>
                <a:spcPct val="100000"/>
              </a:lnSpc>
              <a:spcBef>
                <a:spcPts val="300"/>
              </a:spcBef>
            </a:pP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Do</a:t>
            </a:r>
            <a:r>
              <a:rPr sz="1200" b="1" u="sng" cap="small" spc="-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not</a:t>
            </a:r>
            <a:r>
              <a:rPr sz="1200" b="1" u="sng" cap="small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go</a:t>
            </a:r>
            <a:r>
              <a:rPr sz="1200" b="1" u="sng" cap="small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on</a:t>
            </a:r>
            <a:r>
              <a:rPr sz="1200" b="1" u="sng" cap="small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until</a:t>
            </a:r>
            <a:r>
              <a:rPr sz="1200" b="1" u="sng" cap="small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the</a:t>
            </a:r>
            <a:r>
              <a:rPr sz="1200" b="1" u="sng" cap="small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LED</a:t>
            </a:r>
            <a:r>
              <a:rPr sz="1200" b="1" u="sng" cap="small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blinks</a:t>
            </a:r>
            <a:r>
              <a:rPr sz="1200" b="1" u="sng" cap="small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at</a:t>
            </a:r>
            <a:r>
              <a:rPr sz="1200" b="1" u="sng" cap="small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about</a:t>
            </a:r>
            <a:r>
              <a:rPr sz="1200" b="1" u="sng" cap="small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1</a:t>
            </a:r>
            <a:r>
              <a:rPr sz="1200" b="1" u="sng" cap="small" spc="-6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cap="small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Hz</a:t>
            </a:r>
            <a:r>
              <a:rPr sz="1200" b="1" u="none" cap="small" spc="-25" dirty="0">
                <a:solidFill>
                  <a:srgbClr val="FF0000"/>
                </a:solidFill>
                <a:latin typeface="Book Antiqua"/>
                <a:cs typeface="Book Antiqua"/>
              </a:rPr>
              <a:t>.</a:t>
            </a:r>
            <a:endParaRPr sz="12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385"/>
              </a:spcBef>
            </a:pPr>
            <a:endParaRPr sz="950">
              <a:latin typeface="Book Antiqua"/>
              <a:cs typeface="Book Antiqua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0070BF"/>
                </a:solidFill>
                <a:latin typeface="Book Antiqua"/>
                <a:cs typeface="Book Antiqua"/>
              </a:rPr>
              <a:t>Interrupt</a:t>
            </a:r>
            <a:r>
              <a:rPr sz="1600" b="1" spc="-70" dirty="0">
                <a:solidFill>
                  <a:srgbClr val="0070BF"/>
                </a:solidFill>
                <a:latin typeface="Book Antiqua"/>
                <a:cs typeface="Book Antiqua"/>
              </a:rPr>
              <a:t> </a:t>
            </a:r>
            <a:r>
              <a:rPr sz="1600" b="1" spc="-20" dirty="0">
                <a:solidFill>
                  <a:srgbClr val="0070BF"/>
                </a:solidFill>
                <a:latin typeface="Book Antiqua"/>
                <a:cs typeface="Book Antiqua"/>
              </a:rPr>
              <a:t>Code</a:t>
            </a:r>
            <a:endParaRPr sz="1600">
              <a:latin typeface="Book Antiqua"/>
              <a:cs typeface="Book Antiqua"/>
            </a:endParaRPr>
          </a:p>
          <a:p>
            <a:pPr marL="101600" marR="132715" algn="just">
              <a:lnSpc>
                <a:spcPct val="121200"/>
              </a:lnSpc>
              <a:spcBef>
                <a:spcPts val="680"/>
              </a:spcBef>
            </a:pPr>
            <a:r>
              <a:rPr sz="1200" dirty="0">
                <a:latin typeface="Palatino Linotype"/>
                <a:cs typeface="Palatino Linotype"/>
              </a:rPr>
              <a:t>Next,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design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implement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Interrupt</a:t>
            </a:r>
            <a:r>
              <a:rPr sz="1200" b="1" spc="-4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Service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Routines</a:t>
            </a:r>
            <a:r>
              <a:rPr sz="1200" b="1" spc="-10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(ISRs)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will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executed </a:t>
            </a:r>
            <a:r>
              <a:rPr sz="1200" dirty="0">
                <a:latin typeface="Palatino Linotype"/>
                <a:cs typeface="Palatino Linotype"/>
              </a:rPr>
              <a:t>whenever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toggled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down.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following</a:t>
            </a:r>
            <a:r>
              <a:rPr sz="1200" spc="2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pseudocode</a:t>
            </a:r>
            <a:r>
              <a:rPr sz="1200" b="1" spc="-15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gives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general </a:t>
            </a:r>
            <a:r>
              <a:rPr sz="1200" dirty="0">
                <a:latin typeface="Palatino Linotype"/>
                <a:cs typeface="Palatino Linotype"/>
              </a:rPr>
              <a:t>idea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behave.</a:t>
            </a:r>
            <a:endParaRPr sz="1200">
              <a:latin typeface="Palatino Linotype"/>
              <a:cs typeface="Palatino Linotype"/>
            </a:endParaRPr>
          </a:p>
          <a:p>
            <a:pPr marL="101600">
              <a:lnSpc>
                <a:spcPct val="100000"/>
              </a:lnSpc>
              <a:spcBef>
                <a:spcPts val="665"/>
              </a:spcBef>
            </a:pPr>
            <a:r>
              <a:rPr sz="1100" dirty="0">
                <a:latin typeface="Courier New"/>
                <a:cs typeface="Courier New"/>
              </a:rPr>
              <a:t>Initialize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interrupt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(explained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class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book)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ourier New"/>
              <a:cs typeface="Courier New"/>
            </a:endParaRPr>
          </a:p>
          <a:p>
            <a:pPr marL="101600">
              <a:lnSpc>
                <a:spcPct val="100000"/>
              </a:lnSpc>
            </a:pPr>
            <a:r>
              <a:rPr sz="1100" spc="-10" dirty="0">
                <a:latin typeface="Courier New"/>
                <a:cs typeface="Courier New"/>
              </a:rPr>
              <a:t>mainLoop</a:t>
            </a:r>
            <a:endParaRPr sz="1100">
              <a:latin typeface="Courier New"/>
              <a:cs typeface="Courier New"/>
            </a:endParaRPr>
          </a:p>
          <a:p>
            <a:pPr marL="558800" marR="2512695" indent="-229870">
              <a:lnSpc>
                <a:spcPct val="101800"/>
              </a:lnSpc>
            </a:pPr>
            <a:r>
              <a:rPr sz="1100" dirty="0">
                <a:latin typeface="Courier New"/>
                <a:cs typeface="Courier New"/>
              </a:rPr>
              <a:t>Blink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PORTA.7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once </a:t>
            </a:r>
            <a:r>
              <a:rPr sz="1100" dirty="0">
                <a:latin typeface="Courier New"/>
                <a:cs typeface="Courier New"/>
              </a:rPr>
              <a:t>(according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value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BlinkFreq)</a:t>
            </a:r>
            <a:endParaRPr sz="1100">
              <a:latin typeface="Courier New"/>
              <a:cs typeface="Courier New"/>
            </a:endParaRPr>
          </a:p>
          <a:p>
            <a:pPr marL="329565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ourier New"/>
                <a:cs typeface="Courier New"/>
              </a:rPr>
              <a:t>goto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mainLoop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ourier New"/>
              <a:cs typeface="Courier New"/>
            </a:endParaRPr>
          </a:p>
          <a:p>
            <a:pPr marL="101600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latin typeface="Courier New"/>
                <a:cs typeface="Courier New"/>
              </a:rPr>
              <a:t>ISRJoystickUp</a:t>
            </a:r>
            <a:endParaRPr sz="1100">
              <a:latin typeface="Courier New"/>
              <a:cs typeface="Courier New"/>
            </a:endParaRPr>
          </a:p>
          <a:p>
            <a:pPr marL="329565" marR="749300" indent="229235">
              <a:lnSpc>
                <a:spcPct val="101800"/>
              </a:lnSpc>
            </a:pPr>
            <a:r>
              <a:rPr sz="1100" dirty="0">
                <a:latin typeface="Courier New"/>
                <a:cs typeface="Courier New"/>
              </a:rPr>
              <a:t>(invoked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when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joystick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released</a:t>
            </a:r>
            <a:r>
              <a:rPr sz="1100" u="sng" spc="-3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1100" b="1" u="none" dirty="0">
                <a:latin typeface="Courier New"/>
                <a:cs typeface="Courier New"/>
              </a:rPr>
              <a:t>after</a:t>
            </a:r>
            <a:r>
              <a:rPr sz="1100" b="1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being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pressed</a:t>
            </a:r>
            <a:r>
              <a:rPr sz="1100" u="none" spc="-60" dirty="0">
                <a:latin typeface="Courier New"/>
                <a:cs typeface="Courier New"/>
              </a:rPr>
              <a:t> </a:t>
            </a:r>
            <a:r>
              <a:rPr sz="1100" u="none" spc="-25" dirty="0">
                <a:latin typeface="Courier New"/>
                <a:cs typeface="Courier New"/>
              </a:rPr>
              <a:t>up) </a:t>
            </a:r>
            <a:r>
              <a:rPr sz="1100" u="none" dirty="0">
                <a:latin typeface="Courier New"/>
                <a:cs typeface="Courier New"/>
              </a:rPr>
              <a:t>if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BlinkFreq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&lt;</a:t>
            </a:r>
            <a:r>
              <a:rPr sz="1100" u="none" spc="-6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BlinkFreqMax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spc="-20" dirty="0">
                <a:latin typeface="Courier New"/>
                <a:cs typeface="Courier New"/>
              </a:rPr>
              <a:t>then</a:t>
            </a:r>
            <a:endParaRPr sz="11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Courier New"/>
                <a:cs typeface="Courier New"/>
              </a:rPr>
              <a:t>increment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BlinkFreq</a:t>
            </a:r>
            <a:endParaRPr sz="1100">
              <a:latin typeface="Courier New"/>
              <a:cs typeface="Courier New"/>
            </a:endParaRPr>
          </a:p>
          <a:p>
            <a:pPr marL="329565" marR="1926589" indent="229235">
              <a:lnSpc>
                <a:spcPct val="101800"/>
              </a:lnSpc>
            </a:pPr>
            <a:r>
              <a:rPr sz="1100" dirty="0">
                <a:latin typeface="Courier New"/>
                <a:cs typeface="Courier New"/>
              </a:rPr>
              <a:t>display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blink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PORTC.3:0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LEDs </a:t>
            </a:r>
            <a:r>
              <a:rPr sz="1100" dirty="0">
                <a:latin typeface="Courier New"/>
                <a:cs typeface="Courier New"/>
              </a:rPr>
              <a:t>return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interrupt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100">
              <a:latin typeface="Courier New"/>
              <a:cs typeface="Courier New"/>
            </a:endParaRPr>
          </a:p>
          <a:p>
            <a:pPr marL="101600">
              <a:lnSpc>
                <a:spcPct val="100000"/>
              </a:lnSpc>
            </a:pPr>
            <a:r>
              <a:rPr sz="1100" spc="-10" dirty="0">
                <a:latin typeface="Courier New"/>
                <a:cs typeface="Courier New"/>
              </a:rPr>
              <a:t>ISRJoystickDown</a:t>
            </a:r>
            <a:endParaRPr sz="1100">
              <a:latin typeface="Courier New"/>
              <a:cs typeface="Courier New"/>
            </a:endParaRPr>
          </a:p>
          <a:p>
            <a:pPr marL="329565" marR="1085215" indent="229235">
              <a:lnSpc>
                <a:spcPct val="101800"/>
              </a:lnSpc>
            </a:pPr>
            <a:r>
              <a:rPr sz="1100" dirty="0">
                <a:latin typeface="Courier New"/>
                <a:cs typeface="Courier New"/>
              </a:rPr>
              <a:t>(invoked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when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joystick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released</a:t>
            </a:r>
            <a:r>
              <a:rPr sz="1100" u="none" spc="-30" dirty="0">
                <a:latin typeface="Courier New"/>
                <a:cs typeface="Courier New"/>
              </a:rPr>
              <a:t> </a:t>
            </a:r>
            <a:r>
              <a:rPr sz="1100" b="1" u="none" dirty="0">
                <a:latin typeface="Courier New"/>
                <a:cs typeface="Courier New"/>
              </a:rPr>
              <a:t>after</a:t>
            </a:r>
            <a:r>
              <a:rPr sz="1100" b="1" u="none" spc="-50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pressed</a:t>
            </a:r>
            <a:r>
              <a:rPr sz="1100" u="none" spc="-65" dirty="0">
                <a:latin typeface="Courier New"/>
                <a:cs typeface="Courier New"/>
              </a:rPr>
              <a:t> </a:t>
            </a:r>
            <a:r>
              <a:rPr sz="1100" u="none" spc="-10" dirty="0">
                <a:latin typeface="Courier New"/>
                <a:cs typeface="Courier New"/>
              </a:rPr>
              <a:t>down) </a:t>
            </a:r>
            <a:r>
              <a:rPr sz="1100" u="none" dirty="0">
                <a:latin typeface="Courier New"/>
                <a:cs typeface="Courier New"/>
              </a:rPr>
              <a:t>if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BlinkFreq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&gt;</a:t>
            </a:r>
            <a:r>
              <a:rPr sz="1100" u="none" spc="-65" dirty="0">
                <a:latin typeface="Courier New"/>
                <a:cs typeface="Courier New"/>
              </a:rPr>
              <a:t> </a:t>
            </a:r>
            <a:r>
              <a:rPr sz="1100" u="none" dirty="0">
                <a:latin typeface="Courier New"/>
                <a:cs typeface="Courier New"/>
              </a:rPr>
              <a:t>BlinkFreqMin</a:t>
            </a:r>
            <a:r>
              <a:rPr sz="1100" u="none" spc="-55" dirty="0">
                <a:latin typeface="Courier New"/>
                <a:cs typeface="Courier New"/>
              </a:rPr>
              <a:t> </a:t>
            </a:r>
            <a:r>
              <a:rPr sz="1100" u="none" spc="-20" dirty="0">
                <a:latin typeface="Courier New"/>
                <a:cs typeface="Courier New"/>
              </a:rPr>
              <a:t>then</a:t>
            </a:r>
            <a:endParaRPr sz="1100">
              <a:latin typeface="Courier New"/>
              <a:cs typeface="Courier New"/>
            </a:endParaRPr>
          </a:p>
          <a:p>
            <a:pPr marL="558800">
              <a:lnSpc>
                <a:spcPct val="100000"/>
              </a:lnSpc>
              <a:spcBef>
                <a:spcPts val="25"/>
              </a:spcBef>
            </a:pPr>
            <a:r>
              <a:rPr sz="1100" dirty="0">
                <a:latin typeface="Courier New"/>
                <a:cs typeface="Courier New"/>
              </a:rPr>
              <a:t>decrement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BlinkFreq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1811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8052" y="405141"/>
            <a:ext cx="307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57769"/>
            <a:ext cx="5937250" cy="82613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40665" marR="1776095" indent="229235">
              <a:lnSpc>
                <a:spcPct val="101800"/>
              </a:lnSpc>
              <a:spcBef>
                <a:spcPts val="75"/>
              </a:spcBef>
            </a:pPr>
            <a:r>
              <a:rPr sz="1100" dirty="0">
                <a:latin typeface="Courier New"/>
                <a:cs typeface="Courier New"/>
              </a:rPr>
              <a:t>display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blink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PORTC.3:0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LEDs </a:t>
            </a:r>
            <a:r>
              <a:rPr sz="1100" dirty="0">
                <a:latin typeface="Courier New"/>
                <a:cs typeface="Courier New"/>
              </a:rPr>
              <a:t>return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interrupt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ct val="121400"/>
              </a:lnSpc>
              <a:spcBef>
                <a:spcPts val="865"/>
              </a:spcBef>
            </a:pP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above,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main</a:t>
            </a:r>
            <a:r>
              <a:rPr sz="1200" u="sng" spc="-45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 </a:t>
            </a:r>
            <a:r>
              <a:rPr sz="1200" u="sng" spc="-10" dirty="0">
                <a:uFill>
                  <a:solidFill>
                    <a:srgbClr val="000000"/>
                  </a:solidFill>
                </a:uFill>
                <a:latin typeface="Courier New"/>
                <a:cs typeface="Courier New"/>
              </a:rPr>
              <a:t>loop</a:t>
            </a:r>
            <a:r>
              <a:rPr sz="1200" u="none" spc="-409" dirty="0">
                <a:latin typeface="Courier New"/>
                <a:cs typeface="Courier New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continuously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blinks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PORTA.7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LED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at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</a:t>
            </a:r>
            <a:r>
              <a:rPr sz="1200" u="none" spc="-20" dirty="0">
                <a:latin typeface="Palatino Linotype"/>
                <a:cs typeface="Palatino Linotype"/>
              </a:rPr>
              <a:t> rate </a:t>
            </a:r>
            <a:r>
              <a:rPr sz="1200" u="none" dirty="0">
                <a:latin typeface="Palatino Linotype"/>
                <a:cs typeface="Palatino Linotype"/>
              </a:rPr>
              <a:t>determined</a:t>
            </a:r>
            <a:r>
              <a:rPr sz="1200" u="none" spc="-4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by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current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value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of</a:t>
            </a:r>
            <a:r>
              <a:rPr sz="1200" u="none" spc="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Courier New"/>
                <a:cs typeface="Courier New"/>
              </a:rPr>
              <a:t>BlinkFreq</a:t>
            </a:r>
            <a:r>
              <a:rPr sz="1200" u="none" dirty="0">
                <a:latin typeface="Palatino Linotype"/>
                <a:cs typeface="Palatino Linotype"/>
              </a:rPr>
              <a:t>.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key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that</a:t>
            </a:r>
            <a:r>
              <a:rPr sz="1200" u="none" spc="-10" dirty="0">
                <a:latin typeface="Palatino Linotype"/>
                <a:cs typeface="Palatino Linotype"/>
              </a:rPr>
              <a:t> </a:t>
            </a:r>
            <a:r>
              <a:rPr sz="1200" b="1" u="none" spc="-10" dirty="0">
                <a:latin typeface="Courier New"/>
                <a:cs typeface="Courier New"/>
              </a:rPr>
              <a:t>BlinkFreq</a:t>
            </a:r>
            <a:r>
              <a:rPr sz="1200" b="1" u="none" spc="-409" dirty="0">
                <a:latin typeface="Courier New"/>
                <a:cs typeface="Courier New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is</a:t>
            </a:r>
            <a:r>
              <a:rPr sz="1200" b="1" u="none" spc="-30" dirty="0">
                <a:latin typeface="Book Antiqua"/>
                <a:cs typeface="Book Antiqua"/>
              </a:rPr>
              <a:t> </a:t>
            </a:r>
            <a:r>
              <a:rPr sz="1200" b="1" u="none" spc="-10" dirty="0">
                <a:latin typeface="Book Antiqua"/>
                <a:cs typeface="Book Antiqua"/>
              </a:rPr>
              <a:t>changed </a:t>
            </a:r>
            <a:r>
              <a:rPr sz="1200" b="1" u="none" dirty="0">
                <a:latin typeface="Book Antiqua"/>
                <a:cs typeface="Book Antiqua"/>
              </a:rPr>
              <a:t>by</a:t>
            </a:r>
            <a:r>
              <a:rPr sz="1200" b="1" u="none" spc="-30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the</a:t>
            </a:r>
            <a:r>
              <a:rPr sz="1200" b="1" u="none" spc="-25" dirty="0">
                <a:latin typeface="Book Antiqua"/>
                <a:cs typeface="Book Antiqua"/>
              </a:rPr>
              <a:t> </a:t>
            </a:r>
            <a:r>
              <a:rPr sz="1200" b="1" u="none" spc="-10" dirty="0">
                <a:latin typeface="Book Antiqua"/>
                <a:cs typeface="Book Antiqua"/>
              </a:rPr>
              <a:t>ISRs—</a:t>
            </a:r>
            <a:r>
              <a:rPr sz="1200" b="1" u="none" dirty="0">
                <a:latin typeface="Book Antiqua"/>
                <a:cs typeface="Book Antiqua"/>
              </a:rPr>
              <a:t>the</a:t>
            </a:r>
            <a:r>
              <a:rPr sz="1200" b="1" u="none" spc="-15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main</a:t>
            </a:r>
            <a:r>
              <a:rPr sz="1200" b="1" u="none" spc="-25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program</a:t>
            </a:r>
            <a:r>
              <a:rPr sz="1200" b="1" u="none" spc="-25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never</a:t>
            </a:r>
            <a:r>
              <a:rPr sz="1200" b="1" u="none" spc="-30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Book Antiqua"/>
                <a:cs typeface="Book Antiqua"/>
              </a:rPr>
              <a:t>changes</a:t>
            </a:r>
            <a:r>
              <a:rPr sz="1200" b="1" u="none" spc="15" dirty="0">
                <a:latin typeface="Book Antiqua"/>
                <a:cs typeface="Book Antiqua"/>
              </a:rPr>
              <a:t> </a:t>
            </a:r>
            <a:r>
              <a:rPr sz="1200" b="1" u="none" dirty="0">
                <a:latin typeface="Courier New"/>
                <a:cs typeface="Courier New"/>
              </a:rPr>
              <a:t>BlinkFreq</a:t>
            </a:r>
            <a:r>
              <a:rPr sz="1200" u="none" dirty="0">
                <a:latin typeface="Palatino Linotype"/>
                <a:cs typeface="Palatino Linotype"/>
              </a:rPr>
              <a:t>.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All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both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ISRs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do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is</a:t>
            </a:r>
            <a:r>
              <a:rPr sz="1200" b="1" u="none" spc="-25" dirty="0"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change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the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value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of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BlinkFreq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and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update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the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four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LEDs!</a:t>
            </a:r>
            <a:endParaRPr sz="1200">
              <a:latin typeface="Book Antiqua"/>
              <a:cs typeface="Book Antiqua"/>
            </a:endParaRPr>
          </a:p>
          <a:p>
            <a:pPr marL="241300" marR="193675" indent="-228600">
              <a:lnSpc>
                <a:spcPct val="120800"/>
              </a:lnSpc>
              <a:spcBef>
                <a:spcPts val="81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2: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five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key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ingredients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setting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enabling</a:t>
            </a:r>
            <a:r>
              <a:rPr sz="1200" spc="-10" dirty="0">
                <a:latin typeface="Palatino Linotype"/>
                <a:cs typeface="Palatino Linotype"/>
              </a:rPr>
              <a:t> interrupts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assembly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code?</a:t>
            </a:r>
            <a:r>
              <a:rPr sz="1200" spc="2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(Include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specific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commands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report.)</a:t>
            </a:r>
            <a:endParaRPr sz="1200">
              <a:latin typeface="Palatino Linotype"/>
              <a:cs typeface="Palatino Linotype"/>
            </a:endParaRPr>
          </a:p>
          <a:p>
            <a:pPr marL="12700" marR="60325">
              <a:lnSpc>
                <a:spcPct val="121300"/>
              </a:lnSpc>
              <a:spcBef>
                <a:spcPts val="605"/>
              </a:spcBef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set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five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buttons.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two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that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represent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“up”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“down”</a:t>
            </a:r>
            <a:r>
              <a:rPr sz="1200" spc="-25" dirty="0">
                <a:latin typeface="Palatino Linotype"/>
                <a:cs typeface="Palatino Linotype"/>
              </a:rPr>
              <a:t> are </a:t>
            </a:r>
            <a:r>
              <a:rPr sz="1200" dirty="0">
                <a:latin typeface="Palatino Linotype"/>
                <a:cs typeface="Palatino Linotype"/>
              </a:rPr>
              <a:t>connected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ATmega128A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PORTB.3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PORTB.1,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respectively.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However,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PORTB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pins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cannot</a:t>
            </a:r>
            <a:r>
              <a:rPr sz="1200" b="1" spc="-3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generate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interrupts,</a:t>
            </a:r>
            <a:r>
              <a:rPr sz="1200" b="1" spc="-4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but</a:t>
            </a:r>
            <a:r>
              <a:rPr sz="1200" b="1" spc="-2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PORTD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pins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can</a:t>
            </a:r>
            <a:r>
              <a:rPr sz="1200" dirty="0">
                <a:latin typeface="Palatino Linotype"/>
                <a:cs typeface="Palatino Linotype"/>
              </a:rPr>
              <a:t>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PORTD.3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(for </a:t>
            </a:r>
            <a:r>
              <a:rPr sz="1200" dirty="0">
                <a:latin typeface="Palatino Linotype"/>
                <a:cs typeface="Palatino Linotype"/>
              </a:rPr>
              <a:t>“up”)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PORTD.1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(for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“down”)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actually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generate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necessary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interrupts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when </a:t>
            </a:r>
            <a:r>
              <a:rPr sz="1200" dirty="0">
                <a:latin typeface="Palatino Linotype"/>
                <a:cs typeface="Palatino Linotype"/>
              </a:rPr>
              <a:t>their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inputs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go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from</a:t>
            </a:r>
            <a:r>
              <a:rPr sz="1200" b="1" spc="-1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low</a:t>
            </a:r>
            <a:r>
              <a:rPr sz="1200" b="1" spc="-3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to</a:t>
            </a:r>
            <a:r>
              <a:rPr sz="1200" b="1" spc="-2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high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course,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PORTD.1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PORTD.3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not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internally </a:t>
            </a:r>
            <a:r>
              <a:rPr sz="1200" dirty="0">
                <a:latin typeface="Palatino Linotype"/>
                <a:cs typeface="Palatino Linotype"/>
              </a:rPr>
              <a:t>connected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switches,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you’ll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have</a:t>
            </a:r>
            <a:r>
              <a:rPr sz="1200" b="1" spc="-3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to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wire</a:t>
            </a:r>
            <a:r>
              <a:rPr sz="1200" b="1" spc="-2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PORTB.1</a:t>
            </a:r>
            <a:r>
              <a:rPr sz="1200" b="1" spc="-1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to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PORTD.1</a:t>
            </a:r>
            <a:r>
              <a:rPr sz="1200" b="1" spc="-3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spc="-25" dirty="0">
                <a:solidFill>
                  <a:srgbClr val="FF0000"/>
                </a:solidFill>
                <a:latin typeface="Book Antiqua"/>
                <a:cs typeface="Book Antiqua"/>
              </a:rPr>
              <a:t>and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PORTB.3</a:t>
            </a:r>
            <a:r>
              <a:rPr sz="1200" b="1" spc="-3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to</a:t>
            </a:r>
            <a:r>
              <a:rPr sz="1200" b="1" spc="-30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PORTD.3</a:t>
            </a:r>
            <a:r>
              <a:rPr sz="1200" b="1" spc="-1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dirty="0">
                <a:solidFill>
                  <a:srgbClr val="FF0000"/>
                </a:solidFill>
                <a:latin typeface="Book Antiqua"/>
                <a:cs typeface="Book Antiqua"/>
              </a:rPr>
              <a:t>using</a:t>
            </a:r>
            <a:r>
              <a:rPr sz="1200" b="1" spc="-25" dirty="0">
                <a:solidFill>
                  <a:srgbClr val="FF0000"/>
                </a:solidFill>
                <a:latin typeface="Book Antiqua"/>
                <a:cs typeface="Book Antiqua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two</a:t>
            </a:r>
            <a:r>
              <a:rPr sz="1200" b="1" u="sng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external</a:t>
            </a:r>
            <a:r>
              <a:rPr sz="12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jumper</a:t>
            </a:r>
            <a:r>
              <a:rPr sz="1200" b="1" u="sng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Book Antiqua"/>
                <a:cs typeface="Book Antiqua"/>
              </a:rPr>
              <a:t>wires</a:t>
            </a:r>
            <a:r>
              <a:rPr sz="1200" u="none" dirty="0">
                <a:latin typeface="Palatino Linotype"/>
                <a:cs typeface="Palatino Linotype"/>
              </a:rPr>
              <a:t>.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This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way,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joystick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signals </a:t>
            </a:r>
            <a:r>
              <a:rPr sz="1200" u="none" dirty="0">
                <a:latin typeface="Palatino Linotype"/>
                <a:cs typeface="Palatino Linotype"/>
              </a:rPr>
              <a:t>will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cause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“up”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and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“down”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ISRs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 be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invoked.</a:t>
            </a:r>
            <a:r>
              <a:rPr sz="1200" u="none" spc="26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If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your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Ready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AVR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board</a:t>
            </a:r>
            <a:r>
              <a:rPr sz="1200" u="none" spc="-5" dirty="0">
                <a:latin typeface="Palatino Linotype"/>
                <a:cs typeface="Palatino Linotype"/>
              </a:rPr>
              <a:t> </a:t>
            </a:r>
            <a:r>
              <a:rPr sz="1200" u="none" spc="-20" dirty="0">
                <a:latin typeface="Palatino Linotype"/>
                <a:cs typeface="Palatino Linotype"/>
              </a:rPr>
              <a:t>came </a:t>
            </a:r>
            <a:r>
              <a:rPr sz="1200" u="none" dirty="0">
                <a:latin typeface="Palatino Linotype"/>
                <a:cs typeface="Palatino Linotype"/>
              </a:rPr>
              <a:t>with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jumper</a:t>
            </a:r>
            <a:r>
              <a:rPr sz="1200" u="none" spc="-2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wires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attached,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be</a:t>
            </a:r>
            <a:r>
              <a:rPr sz="1200" u="none" spc="-4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sure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to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double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check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that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these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connections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are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correct </a:t>
            </a:r>
            <a:r>
              <a:rPr sz="1200" u="none" dirty="0">
                <a:latin typeface="Palatino Linotype"/>
                <a:cs typeface="Palatino Linotype"/>
              </a:rPr>
              <a:t>(or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remove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all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wires</a:t>
            </a:r>
            <a:r>
              <a:rPr sz="1200" u="none" spc="-30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and</a:t>
            </a:r>
            <a:r>
              <a:rPr sz="1200" u="none" spc="-2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just</a:t>
            </a:r>
            <a:r>
              <a:rPr sz="1200" u="none" spc="-35" dirty="0">
                <a:latin typeface="Palatino Linotype"/>
                <a:cs typeface="Palatino Linotype"/>
              </a:rPr>
              <a:t> </a:t>
            </a:r>
            <a:r>
              <a:rPr sz="1200" u="none" dirty="0">
                <a:latin typeface="Palatino Linotype"/>
                <a:cs typeface="Palatino Linotype"/>
              </a:rPr>
              <a:t>rewire</a:t>
            </a:r>
            <a:r>
              <a:rPr sz="1200" u="none" spc="-15" dirty="0">
                <a:latin typeface="Palatino Linotype"/>
                <a:cs typeface="Palatino Linotype"/>
              </a:rPr>
              <a:t> </a:t>
            </a:r>
            <a:r>
              <a:rPr sz="1200" u="none" spc="-10" dirty="0">
                <a:latin typeface="Palatino Linotype"/>
                <a:cs typeface="Palatino Linotype"/>
              </a:rPr>
              <a:t>yourself).</a:t>
            </a:r>
            <a:endParaRPr sz="1200">
              <a:latin typeface="Palatino Linotype"/>
              <a:cs typeface="Palatino Linotype"/>
            </a:endParaRPr>
          </a:p>
          <a:p>
            <a:pPr marL="241300" marR="17145" indent="-228600">
              <a:lnSpc>
                <a:spcPct val="121700"/>
              </a:lnSpc>
              <a:spcBef>
                <a:spcPts val="795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3: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textbook,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slides,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web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 state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three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registers</a:t>
            </a:r>
            <a:r>
              <a:rPr sz="1200" spc="-10" dirty="0">
                <a:latin typeface="Palatino Linotype"/>
                <a:cs typeface="Palatino Linotype"/>
              </a:rPr>
              <a:t> associated </a:t>
            </a:r>
            <a:r>
              <a:rPr sz="1200" dirty="0">
                <a:latin typeface="Palatino Linotype"/>
                <a:cs typeface="Palatino Linotype"/>
              </a:rPr>
              <a:t>with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every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bank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what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each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for.</a:t>
            </a:r>
            <a:endParaRPr sz="1200">
              <a:latin typeface="Palatino Linotype"/>
              <a:cs typeface="Palatino Linotype"/>
            </a:endParaRPr>
          </a:p>
          <a:p>
            <a:pPr marL="241300" marR="230504" indent="-228600">
              <a:lnSpc>
                <a:spcPct val="121700"/>
              </a:lnSpc>
              <a:spcBef>
                <a:spcPts val="790"/>
              </a:spcBef>
            </a:pPr>
            <a:r>
              <a:rPr sz="1200" b="1" dirty="0">
                <a:latin typeface="Arial"/>
                <a:cs typeface="Arial"/>
              </a:rPr>
              <a:t>Question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4:</a:t>
            </a:r>
            <a:r>
              <a:rPr sz="1200" b="1" spc="220" dirty="0">
                <a:latin typeface="Arial"/>
                <a:cs typeface="Arial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Show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wiring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(picture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great)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briefly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explain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concept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50" dirty="0">
                <a:latin typeface="Palatino Linotype"/>
                <a:cs typeface="Palatino Linotype"/>
              </a:rPr>
              <a:t>a </a:t>
            </a:r>
            <a:r>
              <a:rPr sz="1200" dirty="0">
                <a:latin typeface="Palatino Linotype"/>
                <a:cs typeface="Palatino Linotype"/>
              </a:rPr>
              <a:t>“wired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OR”.</a:t>
            </a:r>
            <a:endParaRPr sz="1200">
              <a:latin typeface="Palatino Linotype"/>
              <a:cs typeface="Palatino Linotype"/>
            </a:endParaRPr>
          </a:p>
          <a:p>
            <a:pPr marL="12700" marR="84455">
              <a:lnSpc>
                <a:spcPct val="121700"/>
              </a:lnSpc>
              <a:spcBef>
                <a:spcPts val="590"/>
              </a:spcBef>
            </a:pPr>
            <a:r>
              <a:rPr sz="1200" dirty="0">
                <a:latin typeface="Palatino Linotype"/>
                <a:cs typeface="Palatino Linotype"/>
              </a:rPr>
              <a:t>Assuming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everything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been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properly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initialized,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main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happily </a:t>
            </a:r>
            <a:r>
              <a:rPr sz="1200" dirty="0">
                <a:latin typeface="Palatino Linotype"/>
                <a:cs typeface="Palatino Linotype"/>
              </a:rPr>
              <a:t>blinking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“BOOT”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LED,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here’s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how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change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rate:</a:t>
            </a:r>
            <a:endParaRPr sz="1200">
              <a:latin typeface="Palatino Linotype"/>
              <a:cs typeface="Palatino Linotype"/>
            </a:endParaRPr>
          </a:p>
          <a:p>
            <a:pPr marL="469900" marR="133985" indent="-228600">
              <a:lnSpc>
                <a:spcPct val="121700"/>
              </a:lnSpc>
              <a:spcBef>
                <a:spcPts val="58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user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presses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releases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down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joystick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button,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causing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low-</a:t>
            </a:r>
            <a:r>
              <a:rPr sz="1200" spc="-25" dirty="0">
                <a:latin typeface="Palatino Linotype"/>
                <a:cs typeface="Palatino Linotype"/>
              </a:rPr>
              <a:t>to-</a:t>
            </a:r>
            <a:r>
              <a:rPr sz="1200" dirty="0">
                <a:latin typeface="Palatino Linotype"/>
                <a:cs typeface="Palatino Linotype"/>
              </a:rPr>
              <a:t>high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transition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either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PORTB.1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PORTB.3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(which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are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connected </a:t>
            </a:r>
            <a:r>
              <a:rPr sz="1200" dirty="0">
                <a:latin typeface="Palatino Linotype"/>
                <a:cs typeface="Palatino Linotype"/>
              </a:rPr>
              <a:t>externally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pins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PORTD.1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PORTD.3).</a:t>
            </a:r>
            <a:endParaRPr sz="1200">
              <a:latin typeface="Palatino Linotype"/>
              <a:cs typeface="Palatino Linotype"/>
            </a:endParaRPr>
          </a:p>
          <a:p>
            <a:pPr marL="469900">
              <a:lnSpc>
                <a:spcPct val="100000"/>
              </a:lnSpc>
              <a:spcBef>
                <a:spcPts val="300"/>
              </a:spcBef>
            </a:pP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Don’t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forget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to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enable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pull-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ups</a:t>
            </a:r>
            <a:r>
              <a:rPr sz="1200" b="1" u="sng" spc="-1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on</a:t>
            </a:r>
            <a:r>
              <a:rPr sz="1200" b="1" u="sng" spc="-25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the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two</a:t>
            </a:r>
            <a:r>
              <a:rPr sz="1200" b="1" u="sng" spc="-3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PORTB</a:t>
            </a:r>
            <a:r>
              <a:rPr sz="1200" b="1" u="sng" spc="-2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 </a:t>
            </a:r>
            <a:r>
              <a:rPr sz="1200" b="1" u="sng" spc="-10" dirty="0">
                <a:uFill>
                  <a:solidFill>
                    <a:srgbClr val="000000"/>
                  </a:solidFill>
                </a:uFill>
                <a:latin typeface="Book Antiqua"/>
                <a:cs typeface="Book Antiqua"/>
              </a:rPr>
              <a:t>pins</a:t>
            </a:r>
            <a:r>
              <a:rPr sz="1200" b="1" u="none" spc="-10" dirty="0">
                <a:latin typeface="Book Antiqua"/>
                <a:cs typeface="Book Antiqua"/>
              </a:rPr>
              <a:t>!</a:t>
            </a:r>
            <a:endParaRPr sz="1200">
              <a:latin typeface="Book Antiqua"/>
              <a:cs typeface="Book Antiqua"/>
            </a:endParaRPr>
          </a:p>
          <a:p>
            <a:pPr marL="469900" marR="50800" indent="-228600">
              <a:lnSpc>
                <a:spcPct val="121400"/>
              </a:lnSpc>
              <a:spcBef>
                <a:spcPts val="605"/>
              </a:spcBef>
              <a:buAutoNum type="arabicPeriod" startAt="2"/>
              <a:tabLst>
                <a:tab pos="469900" algn="l"/>
              </a:tabLst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low-</a:t>
            </a:r>
            <a:r>
              <a:rPr sz="1200" dirty="0">
                <a:latin typeface="Palatino Linotype"/>
                <a:cs typeface="Palatino Linotype"/>
              </a:rPr>
              <a:t>to-high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transition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PORTD.1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PORTD.3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generates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interrupt </a:t>
            </a:r>
            <a:r>
              <a:rPr sz="1200" dirty="0">
                <a:latin typeface="Palatino Linotype"/>
                <a:cs typeface="Palatino Linotype"/>
              </a:rPr>
              <a:t>which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turn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causes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ATmega128A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 invoke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corresponding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which </a:t>
            </a:r>
            <a:r>
              <a:rPr sz="1200" dirty="0">
                <a:latin typeface="Palatino Linotype"/>
                <a:cs typeface="Palatino Linotype"/>
              </a:rPr>
              <a:t>increments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or </a:t>
            </a:r>
            <a:r>
              <a:rPr sz="1200" spc="-10" dirty="0">
                <a:latin typeface="Palatino Linotype"/>
                <a:cs typeface="Palatino Linotype"/>
              </a:rPr>
              <a:t>decrements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BlinkFreq</a:t>
            </a:r>
            <a:r>
              <a:rPr sz="1200" spc="-409" dirty="0">
                <a:latin typeface="Courier New"/>
                <a:cs typeface="Courier New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value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updates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4-</a:t>
            </a:r>
            <a:r>
              <a:rPr sz="1200" dirty="0">
                <a:latin typeface="Palatino Linotype"/>
                <a:cs typeface="Palatino Linotype"/>
              </a:rPr>
              <a:t>bit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</a:t>
            </a:r>
            <a:r>
              <a:rPr sz="1200" spc="-20" dirty="0">
                <a:latin typeface="Palatino Linotype"/>
                <a:cs typeface="Palatino Linotype"/>
              </a:rPr>
              <a:t> rate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four</a:t>
            </a:r>
            <a:r>
              <a:rPr sz="1200" spc="-20" dirty="0">
                <a:latin typeface="Palatino Linotype"/>
                <a:cs typeface="Palatino Linotype"/>
              </a:rPr>
              <a:t> LEDs.</a:t>
            </a:r>
            <a:endParaRPr sz="1200">
              <a:latin typeface="Palatino Linotype"/>
              <a:cs typeface="Palatino Linotype"/>
            </a:endParaRPr>
          </a:p>
          <a:p>
            <a:pPr marL="469900" marR="43815" indent="-228600">
              <a:lnSpc>
                <a:spcPct val="121700"/>
              </a:lnSpc>
              <a:spcBef>
                <a:spcPts val="585"/>
              </a:spcBef>
              <a:buAutoNum type="arabicPeriod" startAt="2"/>
              <a:tabLst>
                <a:tab pos="469900" algn="l"/>
              </a:tabLst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ends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control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returns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main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program,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where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PORTA.7</a:t>
            </a:r>
            <a:r>
              <a:rPr sz="1200" spc="-25" dirty="0">
                <a:latin typeface="Palatino Linotype"/>
                <a:cs typeface="Palatino Linotype"/>
              </a:rPr>
              <a:t> LED </a:t>
            </a:r>
            <a:r>
              <a:rPr sz="1200" dirty="0">
                <a:latin typeface="Palatino Linotype"/>
                <a:cs typeface="Palatino Linotype"/>
              </a:rPr>
              <a:t>begins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blinking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new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rate.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Simple,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right?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405141"/>
            <a:ext cx="181102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EECE</a:t>
            </a:r>
            <a:r>
              <a:rPr sz="1100" b="1" spc="-3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3624: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Microprocessors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8052" y="405141"/>
            <a:ext cx="307467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Book Antiqua"/>
                <a:cs typeface="Book Antiqua"/>
              </a:rPr>
              <a:t>Lab</a:t>
            </a:r>
            <a:r>
              <a:rPr sz="1100" b="1" spc="-50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Book Antiqua"/>
                <a:cs typeface="Book Antiqua"/>
              </a:rPr>
              <a:t>Assignment</a:t>
            </a:r>
            <a:r>
              <a:rPr sz="1100" b="1" spc="-3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5—</a:t>
            </a:r>
            <a:r>
              <a:rPr sz="1100" b="1" dirty="0">
                <a:latin typeface="Book Antiqua"/>
                <a:cs typeface="Book Antiqua"/>
              </a:rPr>
              <a:t>Pardon</a:t>
            </a:r>
            <a:r>
              <a:rPr sz="1100" b="1" spc="-45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Book Antiqua"/>
                <a:cs typeface="Book Antiqua"/>
              </a:rPr>
              <a:t>the…Interruption…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849825"/>
            <a:ext cx="5817235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21300"/>
              </a:lnSpc>
              <a:spcBef>
                <a:spcPts val="105"/>
              </a:spcBef>
            </a:pP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key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success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understanding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how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to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configure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ports</a:t>
            </a:r>
            <a:r>
              <a:rPr sz="1200" b="1" spc="-3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and</a:t>
            </a:r>
            <a:r>
              <a:rPr sz="1200" b="1" spc="-15" dirty="0">
                <a:latin typeface="Book Antiqua"/>
                <a:cs typeface="Book Antiqua"/>
              </a:rPr>
              <a:t> </a:t>
            </a:r>
            <a:r>
              <a:rPr sz="1200" b="1" spc="-10" dirty="0">
                <a:latin typeface="Book Antiqua"/>
                <a:cs typeface="Book Antiqua"/>
              </a:rPr>
              <a:t>interrupts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ATmega128A.</a:t>
            </a:r>
            <a:r>
              <a:rPr sz="1200" spc="-4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instructor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have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already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presented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some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material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to </a:t>
            </a:r>
            <a:r>
              <a:rPr sz="1200" dirty="0">
                <a:latin typeface="Palatino Linotype"/>
                <a:cs typeface="Palatino Linotype"/>
              </a:rPr>
              <a:t>get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started,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but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“go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to”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text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such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information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AVR</a:t>
            </a:r>
            <a:r>
              <a:rPr sz="1200" b="1" spc="-15" dirty="0">
                <a:latin typeface="Book Antiqua"/>
                <a:cs typeface="Book Antiqua"/>
              </a:rPr>
              <a:t> </a:t>
            </a:r>
            <a:r>
              <a:rPr sz="1200" b="1" spc="-10" dirty="0">
                <a:latin typeface="Book Antiqua"/>
                <a:cs typeface="Book Antiqua"/>
              </a:rPr>
              <a:t>ATmega128A </a:t>
            </a:r>
            <a:r>
              <a:rPr sz="1200" b="1" dirty="0">
                <a:latin typeface="Book Antiqua"/>
                <a:cs typeface="Book Antiqua"/>
              </a:rPr>
              <a:t>data</a:t>
            </a:r>
            <a:r>
              <a:rPr sz="1200" b="1" spc="-35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sheet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Specifically,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should</a:t>
            </a:r>
            <a:r>
              <a:rPr sz="1200" spc="-4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refer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chapters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“Interrupts,”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“External </a:t>
            </a:r>
            <a:r>
              <a:rPr sz="1200" dirty="0">
                <a:latin typeface="Palatino Linotype"/>
                <a:cs typeface="Palatino Linotype"/>
              </a:rPr>
              <a:t>Interrupts,”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“I/O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Ports.”</a:t>
            </a:r>
            <a:endParaRPr sz="1200">
              <a:latin typeface="Palatino Linotype"/>
              <a:cs typeface="Palatino Linotyp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2154861"/>
            <a:ext cx="733425" cy="299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b="1" spc="-10" dirty="0">
                <a:solidFill>
                  <a:srgbClr val="0070BF"/>
                </a:solidFill>
                <a:latin typeface="Book Antiqua"/>
                <a:cs typeface="Book Antiqua"/>
              </a:rPr>
              <a:t>Report</a:t>
            </a:r>
            <a:endParaRPr sz="18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6112" y="2500883"/>
            <a:ext cx="5980430" cy="6350"/>
          </a:xfrm>
          <a:custGeom>
            <a:avLst/>
            <a:gdLst/>
            <a:ahLst/>
            <a:cxnLst/>
            <a:rect l="l" t="t" r="r" b="b"/>
            <a:pathLst>
              <a:path w="5980430" h="6350">
                <a:moveTo>
                  <a:pt x="5980175" y="6096"/>
                </a:moveTo>
                <a:lnTo>
                  <a:pt x="0" y="6096"/>
                </a:lnTo>
                <a:lnTo>
                  <a:pt x="0" y="0"/>
                </a:lnTo>
                <a:lnTo>
                  <a:pt x="5980175" y="0"/>
                </a:lnTo>
                <a:lnTo>
                  <a:pt x="5980175" y="6096"/>
                </a:lnTo>
                <a:close/>
              </a:path>
            </a:pathLst>
          </a:custGeom>
          <a:solidFill>
            <a:srgbClr val="0070B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01700" y="2579912"/>
            <a:ext cx="5946775" cy="2884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b="1" spc="-10" dirty="0">
                <a:latin typeface="Book Antiqua"/>
                <a:cs typeface="Book Antiqua"/>
              </a:rPr>
              <a:t>one-</a:t>
            </a:r>
            <a:r>
              <a:rPr sz="1200" b="1" dirty="0">
                <a:latin typeface="Book Antiqua"/>
                <a:cs typeface="Book Antiqua"/>
              </a:rPr>
              <a:t>week</a:t>
            </a:r>
            <a:r>
              <a:rPr sz="1200" b="1" spc="-20" dirty="0">
                <a:latin typeface="Book Antiqua"/>
                <a:cs typeface="Book Antiqua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lab</a:t>
            </a:r>
            <a:r>
              <a:rPr sz="1200" dirty="0">
                <a:latin typeface="Palatino Linotype"/>
                <a:cs typeface="Palatino Linotype"/>
              </a:rPr>
              <a:t>.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In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case,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“everything”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includes:</a:t>
            </a:r>
            <a:endParaRPr sz="1200">
              <a:latin typeface="Palatino Linotype"/>
              <a:cs typeface="Palatino Linotype"/>
            </a:endParaRPr>
          </a:p>
          <a:p>
            <a:pPr marL="337185" indent="-151130">
              <a:lnSpc>
                <a:spcPct val="100000"/>
              </a:lnSpc>
              <a:spcBef>
                <a:spcPts val="900"/>
              </a:spcBef>
              <a:buAutoNum type="arabicPeriod"/>
              <a:tabLst>
                <a:tab pos="337185" algn="l"/>
              </a:tabLst>
            </a:pPr>
            <a:r>
              <a:rPr sz="1200" dirty="0">
                <a:latin typeface="Palatino Linotype"/>
                <a:cs typeface="Palatino Linotype"/>
              </a:rPr>
              <a:t>A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live</a:t>
            </a:r>
            <a:r>
              <a:rPr sz="1200" spc="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demonstration </a:t>
            </a:r>
            <a:r>
              <a:rPr sz="1200" dirty="0">
                <a:latin typeface="Palatino Linotype"/>
                <a:cs typeface="Palatino Linotype"/>
              </a:rPr>
              <a:t>of your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working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hardware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(in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class),</a:t>
            </a:r>
            <a:endParaRPr sz="1200">
              <a:latin typeface="Palatino Linotype"/>
              <a:cs typeface="Palatino Linotype"/>
            </a:endParaRPr>
          </a:p>
          <a:p>
            <a:pPr marL="184785" marR="5080" indent="151130">
              <a:lnSpc>
                <a:spcPct val="121700"/>
              </a:lnSpc>
              <a:spcBef>
                <a:spcPts val="600"/>
              </a:spcBef>
              <a:buAutoNum type="arabicPeriod"/>
              <a:tabLst>
                <a:tab pos="335915" algn="l"/>
              </a:tabLst>
            </a:pP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PDF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formal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using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provided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template,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submitted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via </a:t>
            </a:r>
            <a:r>
              <a:rPr sz="1200" spc="-10" dirty="0">
                <a:latin typeface="Palatino Linotype"/>
                <a:cs typeface="Palatino Linotype"/>
              </a:rPr>
              <a:t>Canvas,</a:t>
            </a:r>
            <a:endParaRPr sz="1200">
              <a:latin typeface="Palatino Linotype"/>
              <a:cs typeface="Palatino Linotype"/>
            </a:endParaRPr>
          </a:p>
          <a:p>
            <a:pPr marL="469265">
              <a:lnSpc>
                <a:spcPct val="100000"/>
              </a:lnSpc>
              <a:spcBef>
                <a:spcPts val="900"/>
              </a:spcBef>
            </a:pP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sure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answer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all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b="1" dirty="0">
                <a:latin typeface="Book Antiqua"/>
                <a:cs typeface="Book Antiqua"/>
              </a:rPr>
              <a:t>Questions</a:t>
            </a:r>
            <a:r>
              <a:rPr sz="1200" b="1" spc="-5" dirty="0">
                <a:latin typeface="Book Antiqua"/>
                <a:cs typeface="Book Antiqua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from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procedure.</a:t>
            </a:r>
            <a:endParaRPr sz="1200">
              <a:latin typeface="Palatino Linotype"/>
              <a:cs typeface="Palatino Linotype"/>
            </a:endParaRPr>
          </a:p>
          <a:p>
            <a:pPr marL="337185" indent="-151130">
              <a:lnSpc>
                <a:spcPct val="100000"/>
              </a:lnSpc>
              <a:spcBef>
                <a:spcPts val="915"/>
              </a:spcBef>
              <a:buAutoNum type="arabicPeriod" startAt="3"/>
              <a:tabLst>
                <a:tab pos="337185" algn="l"/>
              </a:tabLst>
            </a:pP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pushed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GitHub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repository.</a:t>
            </a:r>
            <a:endParaRPr sz="1200">
              <a:latin typeface="Palatino Linotype"/>
              <a:cs typeface="Palatino Linotype"/>
            </a:endParaRPr>
          </a:p>
          <a:p>
            <a:pPr marL="12700" marR="411480">
              <a:lnSpc>
                <a:spcPct val="121700"/>
              </a:lnSpc>
              <a:spcBef>
                <a:spcPts val="585"/>
              </a:spcBef>
            </a:pPr>
            <a:r>
              <a:rPr sz="1200" dirty="0">
                <a:latin typeface="Palatino Linotype"/>
                <a:cs typeface="Palatino Linotype"/>
              </a:rPr>
              <a:t>As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always,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graded</a:t>
            </a:r>
            <a:r>
              <a:rPr sz="1200" spc="-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on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the</a:t>
            </a:r>
            <a:r>
              <a:rPr sz="1200" spc="-10" dirty="0">
                <a:latin typeface="Palatino Linotype"/>
                <a:cs typeface="Palatino Linotype"/>
              </a:rPr>
              <a:t> correctness, completeness,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readability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spc="-25" dirty="0">
                <a:latin typeface="Palatino Linotype"/>
                <a:cs typeface="Palatino Linotype"/>
              </a:rPr>
              <a:t>and </a:t>
            </a:r>
            <a:r>
              <a:rPr sz="1200" dirty="0">
                <a:latin typeface="Palatino Linotype"/>
                <a:cs typeface="Palatino Linotype"/>
              </a:rPr>
              <a:t>organization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report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your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pushed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code,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make</a:t>
            </a:r>
            <a:r>
              <a:rPr sz="1200" spc="-1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sure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everything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10" dirty="0">
                <a:latin typeface="Palatino Linotype"/>
                <a:cs typeface="Palatino Linotype"/>
              </a:rPr>
              <a:t>looks </a:t>
            </a:r>
            <a:r>
              <a:rPr sz="1200" dirty="0">
                <a:latin typeface="Palatino Linotype"/>
                <a:cs typeface="Palatino Linotype"/>
              </a:rPr>
              <a:t>professional!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And,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of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course,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have</a:t>
            </a:r>
            <a:r>
              <a:rPr sz="1200" spc="-35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fun!</a:t>
            </a:r>
            <a:endParaRPr sz="1200">
              <a:latin typeface="Palatino Linotype"/>
              <a:cs typeface="Palatino Linotype"/>
            </a:endParaRPr>
          </a:p>
          <a:p>
            <a:pPr marL="12700" marR="981075">
              <a:lnSpc>
                <a:spcPct val="121700"/>
              </a:lnSpc>
              <a:spcBef>
                <a:spcPts val="590"/>
              </a:spcBef>
            </a:pPr>
            <a:r>
              <a:rPr sz="1200" dirty="0">
                <a:latin typeface="Palatino Linotype"/>
                <a:cs typeface="Palatino Linotype"/>
              </a:rPr>
              <a:t>(And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if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you’re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lucky,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you’ll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be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able</a:t>
            </a:r>
            <a:r>
              <a:rPr sz="1200" spc="-1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complete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this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lab</a:t>
            </a:r>
            <a:r>
              <a:rPr sz="1200" spc="-25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without</a:t>
            </a:r>
            <a:r>
              <a:rPr sz="1200" spc="-20" dirty="0">
                <a:latin typeface="Palatino Linotype"/>
                <a:cs typeface="Palatino Linotype"/>
              </a:rPr>
              <a:t> </a:t>
            </a:r>
            <a:r>
              <a:rPr sz="1200" dirty="0">
                <a:latin typeface="Palatino Linotype"/>
                <a:cs typeface="Palatino Linotype"/>
              </a:rPr>
              <a:t>too</a:t>
            </a:r>
            <a:r>
              <a:rPr sz="1200" spc="-30" dirty="0">
                <a:latin typeface="Palatino Linotype"/>
                <a:cs typeface="Palatino Linotype"/>
              </a:rPr>
              <a:t> </a:t>
            </a:r>
            <a:r>
              <a:rPr sz="1200" spc="-20" dirty="0">
                <a:latin typeface="Palatino Linotype"/>
                <a:cs typeface="Palatino Linotype"/>
              </a:rPr>
              <a:t>many </a:t>
            </a:r>
            <a:r>
              <a:rPr sz="1200" spc="-10" dirty="0">
                <a:latin typeface="Palatino Linotype"/>
                <a:cs typeface="Palatino Linotype"/>
              </a:rPr>
              <a:t>interruptions…)</a:t>
            </a:r>
            <a:endParaRPr sz="1200">
              <a:latin typeface="Palatino Linotype"/>
              <a:cs typeface="Palatino Linoty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1932</Words>
  <Application>Microsoft Office PowerPoint</Application>
  <PresentationFormat>Custom</PresentationFormat>
  <Paragraphs>123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Aptos</vt:lpstr>
      <vt:lpstr>Arial</vt:lpstr>
      <vt:lpstr>Book Antiqua</vt:lpstr>
      <vt:lpstr>Cambria</vt:lpstr>
      <vt:lpstr>Consolas</vt:lpstr>
      <vt:lpstr>Courier New</vt:lpstr>
      <vt:lpstr>Palatino Linotype</vt:lpstr>
      <vt:lpstr>Times New Roman</vt:lpstr>
      <vt:lpstr>Office Theme</vt:lpstr>
      <vt:lpstr>Lab Assignment 5—Pardon the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Word - EECE3624Lab05_26F</dc:title>
  <cp:lastModifiedBy>Jose De Los Santos</cp:lastModifiedBy>
  <cp:revision>1</cp:revision>
  <dcterms:created xsi:type="dcterms:W3CDTF">2026-09-22T20:05:42Z</dcterms:created>
  <dcterms:modified xsi:type="dcterms:W3CDTF">2026-09-22T20:06:55Z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2026-09-18T00:00:00Z</vt:filetime>
  </property>
  <property fmtid="{D5CDD505-2E9C-101B-9397-08002B2CF9AE}" pid="3" name="LastSaved">
    <vt:filetime>2026-09-22T00:00:00Z</vt:filetime>
  </property>
  <property fmtid="{D5CDD505-2E9C-101B-9397-08002B2CF9AE}" pid="4" name="Producer">
    <vt:lpwstr>Microsoft: Print To PDF</vt:lpwstr>
  </property>
</Properties>
</file>