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12649200" cy="18084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679A41-3FBA-4BA0-A6CA-4D60F28AD009}" v="7" dt="2026-09-22T20:31:53.3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3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342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De Los Santos" userId="5b4238d056d765fb" providerId="LiveId" clId="{A00C9B26-0AFF-4121-92BA-EA5BC3811AE2}"/>
    <pc:docChg chg="modNotesMaster">
      <pc:chgData name="Jose De Los Santos" userId="5b4238d056d765fb" providerId="LiveId" clId="{A00C9B26-0AFF-4121-92BA-EA5BC3811AE2}" dt="2026-09-22T20:32:31.040" v="9" actId="1410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34F29F-D1C7-4C6A-E37D-7E4E507070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481638" cy="9064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8DADAE-14AA-5FB4-45FA-2C51166386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164388" y="0"/>
            <a:ext cx="5481637" cy="9064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E74AB-E4B4-4A97-8DB9-D636C6B1D50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18F3B-3D29-0D49-C742-3C2B164F6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178338"/>
            <a:ext cx="5481638" cy="906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4365B-C71D-1875-F144-C99105DBC1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164388" y="17178338"/>
            <a:ext cx="5481637" cy="906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2E9B8-6E96-42EE-B566-F6573042E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034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52400" y="0"/>
            <a:ext cx="12954000" cy="971676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821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65238" y="8702675"/>
            <a:ext cx="10118725" cy="7121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25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65238" y="8702675"/>
            <a:ext cx="10118725" cy="7121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35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65238" y="8702675"/>
            <a:ext cx="10118725" cy="7121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39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65238" y="8702675"/>
            <a:ext cx="10118725" cy="7121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80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65238" y="8702675"/>
            <a:ext cx="10118725" cy="7121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93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65238" y="8702675"/>
            <a:ext cx="10118725" cy="7121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0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D187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D187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D187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D187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2895600"/>
            <a:ext cx="9144000" cy="3962400"/>
          </a:xfrm>
          <a:custGeom>
            <a:avLst/>
            <a:gdLst/>
            <a:ahLst/>
            <a:cxnLst/>
            <a:rect l="l" t="t" r="r" b="b"/>
            <a:pathLst>
              <a:path w="9144000" h="3962400">
                <a:moveTo>
                  <a:pt x="9144000" y="0"/>
                </a:moveTo>
                <a:lnTo>
                  <a:pt x="0" y="0"/>
                </a:lnTo>
                <a:lnTo>
                  <a:pt x="0" y="3962400"/>
                </a:lnTo>
                <a:lnTo>
                  <a:pt x="9144000" y="3962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600200"/>
            <a:ext cx="9144000" cy="12954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1019174"/>
            <a:ext cx="9144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9144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9144000" y="57150"/>
                </a:lnTo>
                <a:lnTo>
                  <a:pt x="9144000" y="45720"/>
                </a:lnTo>
                <a:close/>
              </a:path>
              <a:path w="9144000" h="57150">
                <a:moveTo>
                  <a:pt x="9144000" y="0"/>
                </a:moveTo>
                <a:lnTo>
                  <a:pt x="0" y="0"/>
                </a:lnTo>
                <a:lnTo>
                  <a:pt x="0" y="34290"/>
                </a:lnTo>
                <a:lnTo>
                  <a:pt x="9144000" y="34290"/>
                </a:lnTo>
                <a:lnTo>
                  <a:pt x="9144000" y="0"/>
                </a:lnTo>
                <a:close/>
              </a:path>
            </a:pathLst>
          </a:custGeom>
          <a:solidFill>
            <a:srgbClr val="4D1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18282" y="183261"/>
            <a:ext cx="34918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D187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3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jp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.png"/><Relationship Id="rId21" Type="http://schemas.openxmlformats.org/officeDocument/2006/relationships/image" Target="../media/image51.png"/><Relationship Id="rId34" Type="http://schemas.openxmlformats.org/officeDocument/2006/relationships/image" Target="../media/image64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" Type="http://schemas.openxmlformats.org/officeDocument/2006/relationships/image" Target="../media/image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8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jpg"/><Relationship Id="rId5" Type="http://schemas.openxmlformats.org/officeDocument/2006/relationships/image" Target="../media/image66.jpg"/><Relationship Id="rId4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3.png"/><Relationship Id="rId7" Type="http://schemas.openxmlformats.org/officeDocument/2006/relationships/image" Target="../media/image7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jp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5481" y="60451"/>
            <a:ext cx="1647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EECE</a:t>
            </a:r>
            <a:r>
              <a:rPr sz="1000" spc="-15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3624</a:t>
            </a:r>
            <a:r>
              <a:rPr sz="1000" spc="-30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D1879"/>
                </a:solidFill>
                <a:latin typeface="Arial"/>
                <a:cs typeface="Arial"/>
              </a:rPr>
              <a:t>Microprocessors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85737"/>
            <a:ext cx="1917700" cy="4143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939" y="565785"/>
            <a:ext cx="14814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RAYMOND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B.</a:t>
            </a:r>
            <a:r>
              <a:rPr sz="1000" spc="-2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Candara"/>
                <a:cs typeface="Candara"/>
              </a:rPr>
              <a:t>JONES</a:t>
            </a:r>
            <a:endParaRPr sz="1000">
              <a:latin typeface="Candara"/>
              <a:cs typeface="Candara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COLLEGE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OF</a:t>
            </a:r>
            <a:r>
              <a:rPr sz="1000" spc="-4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Candara"/>
                <a:cs typeface="Candara"/>
              </a:rPr>
              <a:t>ENGINEERING</a:t>
            </a:r>
            <a:endParaRPr sz="1000">
              <a:latin typeface="Candara"/>
              <a:cs typeface="Candar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1067" y="47244"/>
            <a:ext cx="3592829" cy="111937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95"/>
              </a:spcBef>
            </a:pPr>
            <a:r>
              <a:rPr dirty="0"/>
              <a:t>Lab05</a:t>
            </a:r>
            <a:r>
              <a:rPr spc="-110" dirty="0"/>
              <a:t> </a:t>
            </a:r>
            <a:r>
              <a:rPr spc="-10" dirty="0"/>
              <a:t>Notes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140" y="1230629"/>
            <a:ext cx="2806065" cy="5134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marR="57785" indent="-22987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3840" algn="l"/>
              </a:tabLst>
            </a:pP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Use</a:t>
            </a:r>
            <a:r>
              <a:rPr sz="1800" spc="-6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ReadyAVR’s</a:t>
            </a:r>
            <a:r>
              <a:rPr sz="18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joystick 	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control</a:t>
            </a:r>
            <a:r>
              <a:rPr sz="18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blink</a:t>
            </a:r>
            <a:r>
              <a:rPr sz="18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D1879"/>
                </a:solidFill>
                <a:latin typeface="Trebuchet MS"/>
                <a:cs typeface="Trebuchet MS"/>
              </a:rPr>
              <a:t>rate 	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“BOOT”</a:t>
            </a:r>
            <a:r>
              <a:rPr sz="18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D1879"/>
                </a:solidFill>
                <a:latin typeface="Trebuchet MS"/>
                <a:cs typeface="Trebuchet MS"/>
              </a:rPr>
              <a:t>LED</a:t>
            </a:r>
            <a:endParaRPr sz="1800">
              <a:latin typeface="Trebuchet MS"/>
              <a:cs typeface="Trebuchet MS"/>
            </a:endParaRPr>
          </a:p>
          <a:p>
            <a:pPr marL="242570" indent="-229870">
              <a:lnSpc>
                <a:spcPct val="100000"/>
              </a:lnSpc>
              <a:spcBef>
                <a:spcPts val="430"/>
              </a:spcBef>
              <a:buChar char="•"/>
              <a:tabLst>
                <a:tab pos="242570" algn="l"/>
              </a:tabLst>
            </a:pP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Modify</a:t>
            </a:r>
            <a:r>
              <a:rPr sz="18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D1879"/>
                </a:solidFill>
                <a:latin typeface="Trebuchet MS"/>
                <a:cs typeface="Trebuchet MS"/>
              </a:rPr>
              <a:t>Lab02</a:t>
            </a:r>
            <a:r>
              <a:rPr sz="18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D1879"/>
                </a:solidFill>
                <a:latin typeface="Trebuchet MS"/>
                <a:cs typeface="Trebuchet MS"/>
              </a:rPr>
              <a:t>to:</a:t>
            </a:r>
            <a:endParaRPr sz="1800">
              <a:latin typeface="Trebuchet MS"/>
              <a:cs typeface="Trebuchet MS"/>
            </a:endParaRPr>
          </a:p>
          <a:p>
            <a:pPr marL="530860" marR="142875" lvl="1" indent="-287020">
              <a:lnSpc>
                <a:spcPct val="100000"/>
              </a:lnSpc>
              <a:spcBef>
                <a:spcPts val="384"/>
              </a:spcBef>
              <a:buFont typeface="Wingdings"/>
              <a:buChar char=""/>
              <a:tabLst>
                <a:tab pos="530860" algn="l"/>
              </a:tabLst>
            </a:pP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Blink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the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“BOOT”</a:t>
            </a:r>
            <a:r>
              <a:rPr sz="16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LED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(</a:t>
            </a:r>
            <a:r>
              <a:rPr sz="1600" b="1" dirty="0">
                <a:solidFill>
                  <a:srgbClr val="4D1879"/>
                </a:solidFill>
                <a:latin typeface="Trebuchet MS"/>
                <a:cs typeface="Trebuchet MS"/>
              </a:rPr>
              <a:t>PORTA.7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)</a:t>
            </a:r>
            <a:r>
              <a:rPr sz="16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at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a</a:t>
            </a:r>
            <a:r>
              <a:rPr sz="16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rate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 of 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1-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15Hz,</a:t>
            </a:r>
            <a:r>
              <a:rPr sz="16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as</a:t>
            </a:r>
            <a:r>
              <a:rPr sz="16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governed</a:t>
            </a:r>
            <a:r>
              <a:rPr sz="16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by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a</a:t>
            </a:r>
            <a:r>
              <a:rPr sz="16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value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stored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in</a:t>
            </a:r>
            <a:r>
              <a:rPr sz="1600" spc="-20" dirty="0">
                <a:solidFill>
                  <a:srgbClr val="4D1879"/>
                </a:solidFill>
                <a:latin typeface="Trebuchet MS"/>
                <a:cs typeface="Trebuchet MS"/>
              </a:rPr>
              <a:t> R20.</a:t>
            </a:r>
            <a:endParaRPr sz="1600">
              <a:latin typeface="Trebuchet MS"/>
              <a:cs typeface="Trebuchet MS"/>
            </a:endParaRPr>
          </a:p>
          <a:p>
            <a:pPr marL="530860" marR="50165" lvl="1" indent="-287020">
              <a:lnSpc>
                <a:spcPct val="100000"/>
              </a:lnSpc>
              <a:spcBef>
                <a:spcPts val="980"/>
              </a:spcBef>
              <a:buFont typeface="Wingdings"/>
              <a:buChar char=""/>
              <a:tabLst>
                <a:tab pos="530860" algn="l"/>
              </a:tabLst>
            </a:pP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Use</a:t>
            </a:r>
            <a:r>
              <a:rPr sz="16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ISRs</a:t>
            </a:r>
            <a:r>
              <a:rPr sz="1600" spc="-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to</a:t>
            </a:r>
            <a:r>
              <a:rPr sz="16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change</a:t>
            </a:r>
            <a:r>
              <a:rPr sz="16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the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value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of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R20</a:t>
            </a:r>
            <a:r>
              <a:rPr sz="16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in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response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to</a:t>
            </a:r>
            <a:r>
              <a:rPr sz="16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up/down</a:t>
            </a:r>
            <a:r>
              <a:rPr sz="16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movement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of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the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 joystick.</a:t>
            </a:r>
            <a:endParaRPr sz="1600">
              <a:latin typeface="Trebuchet MS"/>
              <a:cs typeface="Trebuchet MS"/>
            </a:endParaRPr>
          </a:p>
          <a:p>
            <a:pPr marL="530860" marR="5080" lvl="1" indent="-287020">
              <a:lnSpc>
                <a:spcPct val="100000"/>
              </a:lnSpc>
              <a:spcBef>
                <a:spcPts val="990"/>
              </a:spcBef>
              <a:buFont typeface="Wingdings"/>
              <a:buChar char=""/>
              <a:tabLst>
                <a:tab pos="530860" algn="l"/>
              </a:tabLst>
            </a:pP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Show</a:t>
            </a:r>
            <a:r>
              <a:rPr sz="16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current</a:t>
            </a:r>
            <a:r>
              <a:rPr sz="16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blink</a:t>
            </a:r>
            <a:r>
              <a:rPr sz="1600" spc="-20" dirty="0">
                <a:solidFill>
                  <a:srgbClr val="4D1879"/>
                </a:solidFill>
                <a:latin typeface="Trebuchet MS"/>
                <a:cs typeface="Trebuchet MS"/>
              </a:rPr>
              <a:t> rate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as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a</a:t>
            </a:r>
            <a:r>
              <a:rPr sz="16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4-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bit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binary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number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using</a:t>
            </a:r>
            <a:r>
              <a:rPr sz="16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LEDs</a:t>
            </a:r>
            <a:r>
              <a:rPr sz="16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connected</a:t>
            </a:r>
            <a:r>
              <a:rPr sz="16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to </a:t>
            </a:r>
            <a:r>
              <a:rPr sz="1600" b="1" dirty="0">
                <a:solidFill>
                  <a:srgbClr val="4D1879"/>
                </a:solidFill>
                <a:latin typeface="Trebuchet MS"/>
                <a:cs typeface="Trebuchet MS"/>
              </a:rPr>
              <a:t>PORTC.3:0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.</a:t>
            </a:r>
            <a:r>
              <a:rPr sz="16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Only</a:t>
            </a:r>
            <a:r>
              <a:rPr sz="16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update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these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LEDs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when</a:t>
            </a:r>
            <a:r>
              <a:rPr sz="16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the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blink</a:t>
            </a:r>
            <a:r>
              <a:rPr sz="16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rate</a:t>
            </a:r>
            <a:r>
              <a:rPr sz="16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is</a:t>
            </a:r>
            <a:r>
              <a:rPr sz="16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changed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(i.e.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in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D1879"/>
                </a:solidFill>
                <a:latin typeface="Trebuchet MS"/>
                <a:cs typeface="Trebuchet MS"/>
              </a:rPr>
              <a:t>the</a:t>
            </a:r>
            <a:r>
              <a:rPr sz="16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D1879"/>
                </a:solidFill>
                <a:latin typeface="Trebuchet MS"/>
                <a:cs typeface="Trebuchet MS"/>
              </a:rPr>
              <a:t>ISR).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9000" y="1195184"/>
            <a:ext cx="5340096" cy="53257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5481" y="60451"/>
            <a:ext cx="1647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EECE</a:t>
            </a:r>
            <a:r>
              <a:rPr sz="1000" spc="-15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3624</a:t>
            </a:r>
            <a:r>
              <a:rPr sz="1000" spc="-30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D1879"/>
                </a:solidFill>
                <a:latin typeface="Arial"/>
                <a:cs typeface="Arial"/>
              </a:rPr>
              <a:t>Microprocessors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85737"/>
            <a:ext cx="1917700" cy="4143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939" y="565785"/>
            <a:ext cx="14814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RAYMOND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B.</a:t>
            </a:r>
            <a:r>
              <a:rPr sz="1000" spc="-2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Candara"/>
                <a:cs typeface="Candara"/>
              </a:rPr>
              <a:t>JONES</a:t>
            </a:r>
            <a:endParaRPr sz="1000">
              <a:latin typeface="Candara"/>
              <a:cs typeface="Candara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COLLEGE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OF</a:t>
            </a:r>
            <a:r>
              <a:rPr sz="1000" spc="-4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Candara"/>
                <a:cs typeface="Candara"/>
              </a:rPr>
              <a:t>ENGINEERING</a:t>
            </a:r>
            <a:endParaRPr sz="1000">
              <a:latin typeface="Candara"/>
              <a:cs typeface="Candar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1067" y="47244"/>
            <a:ext cx="3592829" cy="111937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95"/>
              </a:spcBef>
            </a:pPr>
            <a:r>
              <a:rPr dirty="0"/>
              <a:t>Lab05</a:t>
            </a:r>
            <a:r>
              <a:rPr spc="-110" dirty="0"/>
              <a:t> </a:t>
            </a:r>
            <a:r>
              <a:rPr spc="-10" dirty="0"/>
              <a:t>Notes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27939" y="4725771"/>
            <a:ext cx="3431540" cy="1653539"/>
            <a:chOff x="327939" y="4725771"/>
            <a:chExt cx="3431540" cy="1653539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451" y="4735296"/>
              <a:ext cx="3412109" cy="16339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2701" y="4730534"/>
              <a:ext cx="3422015" cy="1644014"/>
            </a:xfrm>
            <a:custGeom>
              <a:avLst/>
              <a:gdLst/>
              <a:ahLst/>
              <a:cxnLst/>
              <a:rect l="l" t="t" r="r" b="b"/>
              <a:pathLst>
                <a:path w="3422015" h="1644014">
                  <a:moveTo>
                    <a:pt x="0" y="1643507"/>
                  </a:moveTo>
                  <a:lnTo>
                    <a:pt x="3421634" y="1643507"/>
                  </a:lnTo>
                  <a:lnTo>
                    <a:pt x="3421634" y="0"/>
                  </a:lnTo>
                  <a:lnTo>
                    <a:pt x="0" y="0"/>
                  </a:lnTo>
                  <a:lnTo>
                    <a:pt x="0" y="1643507"/>
                  </a:lnTo>
                  <a:close/>
                </a:path>
              </a:pathLst>
            </a:custGeom>
            <a:ln w="9525">
              <a:solidFill>
                <a:srgbClr val="3511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65758" y="5677916"/>
            <a:ext cx="248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</a:t>
            </a:r>
            <a:r>
              <a:rPr sz="1350" i="1" spc="-37" baseline="-21604" dirty="0">
                <a:latin typeface="Arial"/>
                <a:cs typeface="Arial"/>
              </a:rPr>
              <a:t>n</a:t>
            </a:r>
            <a:endParaRPr sz="1350" baseline="-21604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800" y="1352550"/>
            <a:ext cx="3412109" cy="28384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266059" y="2667050"/>
            <a:ext cx="486409" cy="2311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900" b="1" spc="-10" dirty="0">
                <a:latin typeface="Arial"/>
                <a:cs typeface="Arial"/>
              </a:rPr>
              <a:t>(PB0)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5315" y="2845231"/>
            <a:ext cx="486409" cy="2311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900" b="1" spc="-10" dirty="0">
                <a:latin typeface="Arial"/>
                <a:cs typeface="Arial"/>
              </a:rPr>
              <a:t>(PB2)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43760" y="4495800"/>
            <a:ext cx="925830" cy="1100455"/>
          </a:xfrm>
          <a:custGeom>
            <a:avLst/>
            <a:gdLst/>
            <a:ahLst/>
            <a:cxnLst/>
            <a:rect l="l" t="t" r="r" b="b"/>
            <a:pathLst>
              <a:path w="925830" h="1100454">
                <a:moveTo>
                  <a:pt x="0" y="637158"/>
                </a:moveTo>
                <a:lnTo>
                  <a:pt x="2390" y="589807"/>
                </a:lnTo>
                <a:lnTo>
                  <a:pt x="9405" y="543826"/>
                </a:lnTo>
                <a:lnTo>
                  <a:pt x="20812" y="499447"/>
                </a:lnTo>
                <a:lnTo>
                  <a:pt x="36379" y="456902"/>
                </a:lnTo>
                <a:lnTo>
                  <a:pt x="55873" y="416424"/>
                </a:lnTo>
                <a:lnTo>
                  <a:pt x="79061" y="378247"/>
                </a:lnTo>
                <a:lnTo>
                  <a:pt x="105710" y="342601"/>
                </a:lnTo>
                <a:lnTo>
                  <a:pt x="135588" y="309721"/>
                </a:lnTo>
                <a:lnTo>
                  <a:pt x="168462" y="279838"/>
                </a:lnTo>
                <a:lnTo>
                  <a:pt x="204099" y="253184"/>
                </a:lnTo>
                <a:lnTo>
                  <a:pt x="242266" y="229994"/>
                </a:lnTo>
                <a:lnTo>
                  <a:pt x="282731" y="210498"/>
                </a:lnTo>
                <a:lnTo>
                  <a:pt x="325261" y="194930"/>
                </a:lnTo>
                <a:lnTo>
                  <a:pt x="369624" y="183522"/>
                </a:lnTo>
                <a:lnTo>
                  <a:pt x="415586" y="176507"/>
                </a:lnTo>
                <a:lnTo>
                  <a:pt x="462914" y="174117"/>
                </a:lnTo>
                <a:lnTo>
                  <a:pt x="510243" y="176507"/>
                </a:lnTo>
                <a:lnTo>
                  <a:pt x="556205" y="183522"/>
                </a:lnTo>
                <a:lnTo>
                  <a:pt x="600568" y="194930"/>
                </a:lnTo>
                <a:lnTo>
                  <a:pt x="643098" y="210498"/>
                </a:lnTo>
                <a:lnTo>
                  <a:pt x="683563" y="229994"/>
                </a:lnTo>
                <a:lnTo>
                  <a:pt x="721730" y="253184"/>
                </a:lnTo>
                <a:lnTo>
                  <a:pt x="757367" y="279838"/>
                </a:lnTo>
                <a:lnTo>
                  <a:pt x="790241" y="309721"/>
                </a:lnTo>
                <a:lnTo>
                  <a:pt x="820119" y="342601"/>
                </a:lnTo>
                <a:lnTo>
                  <a:pt x="846768" y="378247"/>
                </a:lnTo>
                <a:lnTo>
                  <a:pt x="869956" y="416424"/>
                </a:lnTo>
                <a:lnTo>
                  <a:pt x="889450" y="456902"/>
                </a:lnTo>
                <a:lnTo>
                  <a:pt x="905017" y="499447"/>
                </a:lnTo>
                <a:lnTo>
                  <a:pt x="916424" y="543826"/>
                </a:lnTo>
                <a:lnTo>
                  <a:pt x="923439" y="589807"/>
                </a:lnTo>
                <a:lnTo>
                  <a:pt x="925830" y="637158"/>
                </a:lnTo>
                <a:lnTo>
                  <a:pt x="923439" y="684487"/>
                </a:lnTo>
                <a:lnTo>
                  <a:pt x="916424" y="730447"/>
                </a:lnTo>
                <a:lnTo>
                  <a:pt x="905017" y="774807"/>
                </a:lnTo>
                <a:lnTo>
                  <a:pt x="889450" y="817334"/>
                </a:lnTo>
                <a:lnTo>
                  <a:pt x="869956" y="857795"/>
                </a:lnTo>
                <a:lnTo>
                  <a:pt x="846768" y="895958"/>
                </a:lnTo>
                <a:lnTo>
                  <a:pt x="820119" y="931591"/>
                </a:lnTo>
                <a:lnTo>
                  <a:pt x="790241" y="964460"/>
                </a:lnTo>
                <a:lnTo>
                  <a:pt x="757367" y="994333"/>
                </a:lnTo>
                <a:lnTo>
                  <a:pt x="721730" y="1020978"/>
                </a:lnTo>
                <a:lnTo>
                  <a:pt x="683563" y="1044161"/>
                </a:lnTo>
                <a:lnTo>
                  <a:pt x="643098" y="1063651"/>
                </a:lnTo>
                <a:lnTo>
                  <a:pt x="600568" y="1079215"/>
                </a:lnTo>
                <a:lnTo>
                  <a:pt x="556205" y="1090620"/>
                </a:lnTo>
                <a:lnTo>
                  <a:pt x="510243" y="1097633"/>
                </a:lnTo>
                <a:lnTo>
                  <a:pt x="462914" y="1100023"/>
                </a:lnTo>
                <a:lnTo>
                  <a:pt x="415586" y="1097633"/>
                </a:lnTo>
                <a:lnTo>
                  <a:pt x="369624" y="1090620"/>
                </a:lnTo>
                <a:lnTo>
                  <a:pt x="325261" y="1079215"/>
                </a:lnTo>
                <a:lnTo>
                  <a:pt x="282731" y="1063651"/>
                </a:lnTo>
                <a:lnTo>
                  <a:pt x="242266" y="1044161"/>
                </a:lnTo>
                <a:lnTo>
                  <a:pt x="204099" y="1020978"/>
                </a:lnTo>
                <a:lnTo>
                  <a:pt x="168462" y="994333"/>
                </a:lnTo>
                <a:lnTo>
                  <a:pt x="135588" y="964460"/>
                </a:lnTo>
                <a:lnTo>
                  <a:pt x="105710" y="931591"/>
                </a:lnTo>
                <a:lnTo>
                  <a:pt x="79061" y="895958"/>
                </a:lnTo>
                <a:lnTo>
                  <a:pt x="55873" y="857795"/>
                </a:lnTo>
                <a:lnTo>
                  <a:pt x="36379" y="817334"/>
                </a:lnTo>
                <a:lnTo>
                  <a:pt x="20812" y="774807"/>
                </a:lnTo>
                <a:lnTo>
                  <a:pt x="9405" y="730447"/>
                </a:lnTo>
                <a:lnTo>
                  <a:pt x="2390" y="684487"/>
                </a:lnTo>
                <a:lnTo>
                  <a:pt x="0" y="637158"/>
                </a:lnTo>
                <a:close/>
              </a:path>
              <a:path w="925830" h="1100454">
                <a:moveTo>
                  <a:pt x="0" y="0"/>
                </a:moveTo>
                <a:lnTo>
                  <a:pt x="206756" y="239522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189" y="4063365"/>
            <a:ext cx="1638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sz="12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You</a:t>
            </a:r>
            <a:r>
              <a:rPr sz="1200" b="1" u="none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FF0000"/>
                </a:solidFill>
                <a:latin typeface="Arial"/>
                <a:cs typeface="Arial"/>
              </a:rPr>
              <a:t>must</a:t>
            </a:r>
            <a:r>
              <a:rPr sz="1200" u="none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FF0000"/>
                </a:solidFill>
                <a:latin typeface="Arial"/>
                <a:cs typeface="Arial"/>
              </a:rPr>
              <a:t>enable</a:t>
            </a:r>
            <a:r>
              <a:rPr sz="1200" u="none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u="none" spc="-2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1200" u="none" dirty="0">
                <a:solidFill>
                  <a:srgbClr val="FF0000"/>
                </a:solidFill>
                <a:latin typeface="Arial"/>
                <a:cs typeface="Arial"/>
              </a:rPr>
              <a:t>internal</a:t>
            </a:r>
            <a:r>
              <a:rPr sz="1200" u="none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u="none" spc="-10" dirty="0">
                <a:solidFill>
                  <a:srgbClr val="FF0000"/>
                </a:solidFill>
                <a:latin typeface="Arial"/>
                <a:cs typeface="Arial"/>
              </a:rPr>
              <a:t>pull-</a:t>
            </a:r>
            <a:r>
              <a:rPr sz="1200" u="none" dirty="0">
                <a:solidFill>
                  <a:srgbClr val="FF0000"/>
                </a:solidFill>
                <a:latin typeface="Arial"/>
                <a:cs typeface="Arial"/>
              </a:rPr>
              <a:t>up</a:t>
            </a:r>
            <a:r>
              <a:rPr sz="1200" u="none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u="none" spc="-10" dirty="0">
                <a:solidFill>
                  <a:srgbClr val="FF0000"/>
                </a:solidFill>
                <a:latin typeface="Arial"/>
                <a:cs typeface="Arial"/>
              </a:rPr>
              <a:t>resistors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01521" y="4744758"/>
            <a:ext cx="2248535" cy="1623060"/>
          </a:xfrm>
          <a:custGeom>
            <a:avLst/>
            <a:gdLst/>
            <a:ahLst/>
            <a:cxnLst/>
            <a:rect l="l" t="t" r="r" b="b"/>
            <a:pathLst>
              <a:path w="2248535" h="1623060">
                <a:moveTo>
                  <a:pt x="2248027" y="0"/>
                </a:moveTo>
                <a:lnTo>
                  <a:pt x="0" y="0"/>
                </a:lnTo>
                <a:lnTo>
                  <a:pt x="0" y="1623059"/>
                </a:lnTo>
                <a:lnTo>
                  <a:pt x="2248027" y="1623059"/>
                </a:lnTo>
                <a:lnTo>
                  <a:pt x="2248027" y="0"/>
                </a:lnTo>
                <a:close/>
              </a:path>
            </a:pathLst>
          </a:custGeom>
          <a:solidFill>
            <a:srgbClr val="BEBEB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63927" y="1389938"/>
            <a:ext cx="440055" cy="231140"/>
          </a:xfrm>
          <a:custGeom>
            <a:avLst/>
            <a:gdLst/>
            <a:ahLst/>
            <a:cxnLst/>
            <a:rect l="l" t="t" r="r" b="b"/>
            <a:pathLst>
              <a:path w="440055" h="231140">
                <a:moveTo>
                  <a:pt x="439864" y="0"/>
                </a:moveTo>
                <a:lnTo>
                  <a:pt x="0" y="0"/>
                </a:lnTo>
                <a:lnTo>
                  <a:pt x="0" y="230835"/>
                </a:lnTo>
                <a:lnTo>
                  <a:pt x="439864" y="230835"/>
                </a:lnTo>
                <a:lnTo>
                  <a:pt x="4398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97201" y="1420114"/>
            <a:ext cx="323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Arial"/>
                <a:cs typeface="Arial"/>
              </a:rPr>
              <a:t>(PB3)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89732" y="3939082"/>
            <a:ext cx="440055" cy="2311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318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sz="900" b="1" spc="-10" dirty="0">
                <a:latin typeface="Arial"/>
                <a:cs typeface="Arial"/>
              </a:rPr>
              <a:t>(PB1)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14800" y="1447800"/>
            <a:ext cx="5029200" cy="3970654"/>
            <a:chOff x="4114800" y="1447800"/>
            <a:chExt cx="5029200" cy="3970654"/>
          </a:xfrm>
        </p:grpSpPr>
        <p:pic>
          <p:nvPicPr>
            <p:cNvPr id="21" name="object 21" descr="C:\Users\gregn\AppData\Local\Temp\SNAGHTML7b7558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14800" y="1447800"/>
              <a:ext cx="5029200" cy="39704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5172" y="1792668"/>
              <a:ext cx="1356487" cy="69348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02074" y="2176780"/>
              <a:ext cx="809625" cy="795655"/>
            </a:xfrm>
            <a:custGeom>
              <a:avLst/>
              <a:gdLst/>
              <a:ahLst/>
              <a:cxnLst/>
              <a:rect l="l" t="t" r="r" b="b"/>
              <a:pathLst>
                <a:path w="809625" h="795655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758698" y="0"/>
                  </a:lnTo>
                  <a:lnTo>
                    <a:pt x="778476" y="3990"/>
                  </a:lnTo>
                  <a:lnTo>
                    <a:pt x="794623" y="14874"/>
                  </a:lnTo>
                  <a:lnTo>
                    <a:pt x="805507" y="31021"/>
                  </a:lnTo>
                  <a:lnTo>
                    <a:pt x="809498" y="50800"/>
                  </a:lnTo>
                  <a:lnTo>
                    <a:pt x="809498" y="254000"/>
                  </a:lnTo>
                  <a:lnTo>
                    <a:pt x="805507" y="273778"/>
                  </a:lnTo>
                  <a:lnTo>
                    <a:pt x="794623" y="289925"/>
                  </a:lnTo>
                  <a:lnTo>
                    <a:pt x="778476" y="300809"/>
                  </a:lnTo>
                  <a:lnTo>
                    <a:pt x="758698" y="304800"/>
                  </a:lnTo>
                  <a:lnTo>
                    <a:pt x="50800" y="304800"/>
                  </a:lnTo>
                  <a:lnTo>
                    <a:pt x="31021" y="300809"/>
                  </a:lnTo>
                  <a:lnTo>
                    <a:pt x="14874" y="289925"/>
                  </a:lnTo>
                  <a:lnTo>
                    <a:pt x="3990" y="273778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  <a:path w="809625" h="795655">
                  <a:moveTo>
                    <a:pt x="0" y="541528"/>
                  </a:moveTo>
                  <a:lnTo>
                    <a:pt x="3990" y="521749"/>
                  </a:lnTo>
                  <a:lnTo>
                    <a:pt x="14874" y="505602"/>
                  </a:lnTo>
                  <a:lnTo>
                    <a:pt x="31021" y="494718"/>
                  </a:lnTo>
                  <a:lnTo>
                    <a:pt x="50800" y="490728"/>
                  </a:lnTo>
                  <a:lnTo>
                    <a:pt x="758698" y="490728"/>
                  </a:lnTo>
                  <a:lnTo>
                    <a:pt x="778476" y="494718"/>
                  </a:lnTo>
                  <a:lnTo>
                    <a:pt x="794623" y="505602"/>
                  </a:lnTo>
                  <a:lnTo>
                    <a:pt x="805507" y="521749"/>
                  </a:lnTo>
                  <a:lnTo>
                    <a:pt x="809498" y="541528"/>
                  </a:lnTo>
                  <a:lnTo>
                    <a:pt x="809498" y="744728"/>
                  </a:lnTo>
                  <a:lnTo>
                    <a:pt x="805507" y="764506"/>
                  </a:lnTo>
                  <a:lnTo>
                    <a:pt x="794623" y="780653"/>
                  </a:lnTo>
                  <a:lnTo>
                    <a:pt x="778476" y="791537"/>
                  </a:lnTo>
                  <a:lnTo>
                    <a:pt x="758698" y="795528"/>
                  </a:lnTo>
                  <a:lnTo>
                    <a:pt x="50800" y="795528"/>
                  </a:lnTo>
                  <a:lnTo>
                    <a:pt x="31021" y="791537"/>
                  </a:lnTo>
                  <a:lnTo>
                    <a:pt x="14874" y="780653"/>
                  </a:lnTo>
                  <a:lnTo>
                    <a:pt x="3990" y="764506"/>
                  </a:lnTo>
                  <a:lnTo>
                    <a:pt x="0" y="744728"/>
                  </a:lnTo>
                  <a:lnTo>
                    <a:pt x="0" y="541528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443596" y="2408885"/>
            <a:ext cx="11004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Arial"/>
                <a:cs typeface="Arial"/>
              </a:rPr>
              <a:t>ATmega128A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879715" y="4172711"/>
            <a:ext cx="774700" cy="1107440"/>
            <a:chOff x="7879715" y="4172711"/>
            <a:chExt cx="774700" cy="1107440"/>
          </a:xfrm>
        </p:grpSpPr>
        <p:sp>
          <p:nvSpPr>
            <p:cNvPr id="26" name="object 26"/>
            <p:cNvSpPr/>
            <p:nvPr/>
          </p:nvSpPr>
          <p:spPr>
            <a:xfrm>
              <a:off x="8382000" y="4179061"/>
              <a:ext cx="266065" cy="1094740"/>
            </a:xfrm>
            <a:custGeom>
              <a:avLst/>
              <a:gdLst/>
              <a:ahLst/>
              <a:cxnLst/>
              <a:rect l="l" t="t" r="r" b="b"/>
              <a:pathLst>
                <a:path w="266065" h="1094739">
                  <a:moveTo>
                    <a:pt x="241173" y="0"/>
                  </a:moveTo>
                  <a:lnTo>
                    <a:pt x="24765" y="0"/>
                  </a:lnTo>
                  <a:lnTo>
                    <a:pt x="15109" y="1940"/>
                  </a:lnTo>
                  <a:lnTo>
                    <a:pt x="7238" y="7238"/>
                  </a:lnTo>
                  <a:lnTo>
                    <a:pt x="1940" y="15109"/>
                  </a:lnTo>
                  <a:lnTo>
                    <a:pt x="0" y="24764"/>
                  </a:lnTo>
                  <a:lnTo>
                    <a:pt x="0" y="1069467"/>
                  </a:lnTo>
                  <a:lnTo>
                    <a:pt x="1940" y="1079122"/>
                  </a:lnTo>
                  <a:lnTo>
                    <a:pt x="7238" y="1086993"/>
                  </a:lnTo>
                  <a:lnTo>
                    <a:pt x="15109" y="1092291"/>
                  </a:lnTo>
                  <a:lnTo>
                    <a:pt x="24765" y="1094232"/>
                  </a:lnTo>
                  <a:lnTo>
                    <a:pt x="241173" y="1094232"/>
                  </a:lnTo>
                  <a:lnTo>
                    <a:pt x="250902" y="1092291"/>
                  </a:lnTo>
                  <a:lnTo>
                    <a:pt x="258810" y="1086992"/>
                  </a:lnTo>
                  <a:lnTo>
                    <a:pt x="264122" y="1079122"/>
                  </a:lnTo>
                  <a:lnTo>
                    <a:pt x="266065" y="1069467"/>
                  </a:lnTo>
                  <a:lnTo>
                    <a:pt x="266065" y="24764"/>
                  </a:lnTo>
                  <a:lnTo>
                    <a:pt x="264122" y="15109"/>
                  </a:lnTo>
                  <a:lnTo>
                    <a:pt x="258810" y="7239"/>
                  </a:lnTo>
                  <a:lnTo>
                    <a:pt x="250902" y="1940"/>
                  </a:lnTo>
                  <a:lnTo>
                    <a:pt x="241173" y="0"/>
                  </a:lnTo>
                  <a:close/>
                </a:path>
              </a:pathLst>
            </a:custGeom>
            <a:solidFill>
              <a:srgbClr val="FF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82000" y="4179061"/>
              <a:ext cx="266065" cy="1094740"/>
            </a:xfrm>
            <a:custGeom>
              <a:avLst/>
              <a:gdLst/>
              <a:ahLst/>
              <a:cxnLst/>
              <a:rect l="l" t="t" r="r" b="b"/>
              <a:pathLst>
                <a:path w="266065" h="1094739">
                  <a:moveTo>
                    <a:pt x="241173" y="0"/>
                  </a:moveTo>
                  <a:lnTo>
                    <a:pt x="250902" y="1940"/>
                  </a:lnTo>
                  <a:lnTo>
                    <a:pt x="258810" y="7239"/>
                  </a:lnTo>
                  <a:lnTo>
                    <a:pt x="264122" y="15109"/>
                  </a:lnTo>
                  <a:lnTo>
                    <a:pt x="266065" y="24764"/>
                  </a:lnTo>
                  <a:lnTo>
                    <a:pt x="266065" y="1069467"/>
                  </a:lnTo>
                  <a:lnTo>
                    <a:pt x="264122" y="1079122"/>
                  </a:lnTo>
                  <a:lnTo>
                    <a:pt x="258810" y="1086992"/>
                  </a:lnTo>
                  <a:lnTo>
                    <a:pt x="250902" y="1092291"/>
                  </a:lnTo>
                  <a:lnTo>
                    <a:pt x="241173" y="1094232"/>
                  </a:lnTo>
                  <a:lnTo>
                    <a:pt x="24765" y="1094232"/>
                  </a:lnTo>
                  <a:lnTo>
                    <a:pt x="15109" y="1092291"/>
                  </a:lnTo>
                  <a:lnTo>
                    <a:pt x="7238" y="1086993"/>
                  </a:lnTo>
                  <a:lnTo>
                    <a:pt x="1940" y="1079122"/>
                  </a:lnTo>
                  <a:lnTo>
                    <a:pt x="0" y="1069467"/>
                  </a:lnTo>
                  <a:lnTo>
                    <a:pt x="0" y="24764"/>
                  </a:lnTo>
                  <a:lnTo>
                    <a:pt x="1940" y="15109"/>
                  </a:lnTo>
                  <a:lnTo>
                    <a:pt x="7238" y="7238"/>
                  </a:lnTo>
                  <a:lnTo>
                    <a:pt x="15109" y="1940"/>
                  </a:lnTo>
                  <a:lnTo>
                    <a:pt x="24765" y="0"/>
                  </a:lnTo>
                  <a:lnTo>
                    <a:pt x="241173" y="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86065" y="4179061"/>
              <a:ext cx="266065" cy="1094740"/>
            </a:xfrm>
            <a:custGeom>
              <a:avLst/>
              <a:gdLst/>
              <a:ahLst/>
              <a:cxnLst/>
              <a:rect l="l" t="t" r="r" b="b"/>
              <a:pathLst>
                <a:path w="266065" h="1094739">
                  <a:moveTo>
                    <a:pt x="241300" y="0"/>
                  </a:moveTo>
                  <a:lnTo>
                    <a:pt x="24891" y="0"/>
                  </a:lnTo>
                  <a:lnTo>
                    <a:pt x="15216" y="1940"/>
                  </a:lnTo>
                  <a:lnTo>
                    <a:pt x="7302" y="7238"/>
                  </a:lnTo>
                  <a:lnTo>
                    <a:pt x="1960" y="15109"/>
                  </a:lnTo>
                  <a:lnTo>
                    <a:pt x="0" y="24764"/>
                  </a:lnTo>
                  <a:lnTo>
                    <a:pt x="0" y="1069467"/>
                  </a:lnTo>
                  <a:lnTo>
                    <a:pt x="1960" y="1079122"/>
                  </a:lnTo>
                  <a:lnTo>
                    <a:pt x="7302" y="1086993"/>
                  </a:lnTo>
                  <a:lnTo>
                    <a:pt x="15216" y="1092291"/>
                  </a:lnTo>
                  <a:lnTo>
                    <a:pt x="24891" y="1094232"/>
                  </a:lnTo>
                  <a:lnTo>
                    <a:pt x="241300" y="1094232"/>
                  </a:lnTo>
                  <a:lnTo>
                    <a:pt x="250955" y="1092291"/>
                  </a:lnTo>
                  <a:lnTo>
                    <a:pt x="258825" y="1086992"/>
                  </a:lnTo>
                  <a:lnTo>
                    <a:pt x="264124" y="1079122"/>
                  </a:lnTo>
                  <a:lnTo>
                    <a:pt x="266064" y="1069467"/>
                  </a:lnTo>
                  <a:lnTo>
                    <a:pt x="266064" y="24764"/>
                  </a:lnTo>
                  <a:lnTo>
                    <a:pt x="264124" y="15109"/>
                  </a:lnTo>
                  <a:lnTo>
                    <a:pt x="258825" y="7239"/>
                  </a:lnTo>
                  <a:lnTo>
                    <a:pt x="250955" y="1940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FF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86065" y="4179061"/>
              <a:ext cx="266065" cy="1094740"/>
            </a:xfrm>
            <a:custGeom>
              <a:avLst/>
              <a:gdLst/>
              <a:ahLst/>
              <a:cxnLst/>
              <a:rect l="l" t="t" r="r" b="b"/>
              <a:pathLst>
                <a:path w="266065" h="1094739">
                  <a:moveTo>
                    <a:pt x="241300" y="0"/>
                  </a:moveTo>
                  <a:lnTo>
                    <a:pt x="250955" y="1940"/>
                  </a:lnTo>
                  <a:lnTo>
                    <a:pt x="258825" y="7239"/>
                  </a:lnTo>
                  <a:lnTo>
                    <a:pt x="264124" y="15109"/>
                  </a:lnTo>
                  <a:lnTo>
                    <a:pt x="266064" y="24764"/>
                  </a:lnTo>
                  <a:lnTo>
                    <a:pt x="266064" y="1069467"/>
                  </a:lnTo>
                  <a:lnTo>
                    <a:pt x="264124" y="1079122"/>
                  </a:lnTo>
                  <a:lnTo>
                    <a:pt x="258825" y="1086992"/>
                  </a:lnTo>
                  <a:lnTo>
                    <a:pt x="250955" y="1092291"/>
                  </a:lnTo>
                  <a:lnTo>
                    <a:pt x="241300" y="1094232"/>
                  </a:lnTo>
                  <a:lnTo>
                    <a:pt x="24891" y="1094232"/>
                  </a:lnTo>
                  <a:lnTo>
                    <a:pt x="15216" y="1092291"/>
                  </a:lnTo>
                  <a:lnTo>
                    <a:pt x="7302" y="1086993"/>
                  </a:lnTo>
                  <a:lnTo>
                    <a:pt x="1960" y="1079122"/>
                  </a:lnTo>
                  <a:lnTo>
                    <a:pt x="0" y="1069467"/>
                  </a:lnTo>
                  <a:lnTo>
                    <a:pt x="0" y="24764"/>
                  </a:lnTo>
                  <a:lnTo>
                    <a:pt x="1960" y="15109"/>
                  </a:lnTo>
                  <a:lnTo>
                    <a:pt x="7302" y="7238"/>
                  </a:lnTo>
                  <a:lnTo>
                    <a:pt x="15216" y="1940"/>
                  </a:lnTo>
                  <a:lnTo>
                    <a:pt x="24891" y="0"/>
                  </a:lnTo>
                  <a:lnTo>
                    <a:pt x="241300" y="0"/>
                  </a:lnTo>
                  <a:close/>
                </a:path>
              </a:pathLst>
            </a:custGeom>
            <a:ln w="126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94175" y="5439867"/>
            <a:ext cx="46285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NB:</a:t>
            </a:r>
            <a:r>
              <a:rPr sz="1200" i="1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Joystick</a:t>
            </a:r>
            <a:r>
              <a:rPr sz="12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switches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are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physically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connected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PORTB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pins,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sng" spc="-2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but</a:t>
            </a:r>
            <a:r>
              <a:rPr sz="1200" u="none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those</a:t>
            </a:r>
            <a:r>
              <a:rPr sz="1200" u="sng" spc="-3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pins</a:t>
            </a:r>
            <a:r>
              <a:rPr sz="1200" u="sng" spc="-3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can’t</a:t>
            </a:r>
            <a:r>
              <a:rPr sz="1200" u="sng" spc="-2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generate</a:t>
            </a:r>
            <a:r>
              <a:rPr sz="1200" u="sng" spc="-4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interrupts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r>
              <a:rPr sz="1200" u="none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spc="-10" dirty="0">
                <a:solidFill>
                  <a:srgbClr val="333333"/>
                </a:solidFill>
                <a:latin typeface="Arial"/>
                <a:cs typeface="Arial"/>
              </a:rPr>
              <a:t>However,</a:t>
            </a:r>
            <a:r>
              <a:rPr sz="1200" u="none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PORTD</a:t>
            </a:r>
            <a:r>
              <a:rPr sz="1200" u="none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pins</a:t>
            </a:r>
            <a:r>
              <a:rPr sz="1200" u="none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spc="-20" dirty="0">
                <a:solidFill>
                  <a:srgbClr val="333333"/>
                </a:solidFill>
                <a:latin typeface="Arial"/>
                <a:cs typeface="Arial"/>
              </a:rPr>
              <a:t>can,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200" u="none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they</a:t>
            </a:r>
            <a:r>
              <a:rPr sz="1200" u="none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can</a:t>
            </a:r>
            <a:r>
              <a:rPr sz="1200" u="none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be</a:t>
            </a:r>
            <a:r>
              <a:rPr sz="1200" u="none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connected</a:t>
            </a:r>
            <a:r>
              <a:rPr sz="1200" u="none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b="1" u="none" dirty="0">
                <a:solidFill>
                  <a:srgbClr val="333333"/>
                </a:solidFill>
                <a:latin typeface="Arial"/>
                <a:cs typeface="Arial"/>
              </a:rPr>
              <a:t>externally</a:t>
            </a:r>
            <a:r>
              <a:rPr sz="1200" b="1" u="none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200" u="none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PORTB</a:t>
            </a:r>
            <a:r>
              <a:rPr sz="1200" u="none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pins</a:t>
            </a:r>
            <a:r>
              <a:rPr sz="1200" u="none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spc="-10" dirty="0">
                <a:solidFill>
                  <a:srgbClr val="333333"/>
                </a:solidFill>
                <a:latin typeface="Arial"/>
                <a:cs typeface="Arial"/>
              </a:rPr>
              <a:t>allowing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joystick</a:t>
            </a:r>
            <a:r>
              <a:rPr sz="1200" u="none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movements</a:t>
            </a:r>
            <a:r>
              <a:rPr sz="1200" u="none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200" u="none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invoke</a:t>
            </a:r>
            <a:r>
              <a:rPr sz="1200" u="none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ISRs</a:t>
            </a:r>
            <a:r>
              <a:rPr sz="1200" u="none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(see</a:t>
            </a:r>
            <a:r>
              <a:rPr sz="1200" u="none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next</a:t>
            </a:r>
            <a:r>
              <a:rPr sz="1200" u="none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page</a:t>
            </a:r>
            <a:r>
              <a:rPr sz="1200" u="none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200" u="none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u="none" spc="-10" dirty="0">
                <a:solidFill>
                  <a:srgbClr val="333333"/>
                </a:solidFill>
                <a:latin typeface="Arial"/>
                <a:cs typeface="Arial"/>
              </a:rPr>
              <a:t>details).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5481" y="60451"/>
            <a:ext cx="1647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EECE</a:t>
            </a:r>
            <a:r>
              <a:rPr sz="1000" spc="-15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3624</a:t>
            </a:r>
            <a:r>
              <a:rPr sz="1000" spc="-30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D1879"/>
                </a:solidFill>
                <a:latin typeface="Arial"/>
                <a:cs typeface="Arial"/>
              </a:rPr>
              <a:t>Microprocessors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85737"/>
            <a:ext cx="1917700" cy="4143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939" y="565785"/>
            <a:ext cx="14814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RAYMOND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B.</a:t>
            </a:r>
            <a:r>
              <a:rPr sz="1000" spc="-2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Candara"/>
                <a:cs typeface="Candara"/>
              </a:rPr>
              <a:t>JONES</a:t>
            </a:r>
            <a:endParaRPr sz="1000">
              <a:latin typeface="Candara"/>
              <a:cs typeface="Candara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COLLEGE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OF</a:t>
            </a:r>
            <a:r>
              <a:rPr sz="1000" spc="-4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Candara"/>
                <a:cs typeface="Candara"/>
              </a:rPr>
              <a:t>ENGINEERING</a:t>
            </a:r>
            <a:endParaRPr sz="1000">
              <a:latin typeface="Candara"/>
              <a:cs typeface="Candar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1067" y="47244"/>
            <a:ext cx="3592829" cy="111937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95"/>
              </a:spcBef>
            </a:pPr>
            <a:r>
              <a:rPr dirty="0"/>
              <a:t>Lab05</a:t>
            </a:r>
            <a:r>
              <a:rPr spc="-110" dirty="0"/>
              <a:t> </a:t>
            </a:r>
            <a:r>
              <a:rPr spc="-10" dirty="0"/>
              <a:t>Notes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64236" y="1283208"/>
            <a:ext cx="8593455" cy="5062220"/>
            <a:chOff x="364236" y="1283208"/>
            <a:chExt cx="8593455" cy="506222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6800" y="2030730"/>
              <a:ext cx="2602229" cy="20840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04946" y="2204085"/>
              <a:ext cx="2269490" cy="548640"/>
            </a:xfrm>
            <a:custGeom>
              <a:avLst/>
              <a:gdLst/>
              <a:ahLst/>
              <a:cxnLst/>
              <a:rect l="l" t="t" r="r" b="b"/>
              <a:pathLst>
                <a:path w="2269490" h="548639">
                  <a:moveTo>
                    <a:pt x="2033524" y="49529"/>
                  </a:moveTo>
                  <a:lnTo>
                    <a:pt x="1575562" y="49529"/>
                  </a:lnTo>
                  <a:lnTo>
                    <a:pt x="1560576" y="52069"/>
                  </a:lnTo>
                  <a:lnTo>
                    <a:pt x="1512315" y="55879"/>
                  </a:lnTo>
                  <a:lnTo>
                    <a:pt x="1493012" y="58419"/>
                  </a:lnTo>
                  <a:lnTo>
                    <a:pt x="1471167" y="60960"/>
                  </a:lnTo>
                  <a:lnTo>
                    <a:pt x="1465579" y="60960"/>
                  </a:lnTo>
                  <a:lnTo>
                    <a:pt x="1459229" y="62229"/>
                  </a:lnTo>
                  <a:lnTo>
                    <a:pt x="1452244" y="62229"/>
                  </a:lnTo>
                  <a:lnTo>
                    <a:pt x="1444878" y="63500"/>
                  </a:lnTo>
                  <a:lnTo>
                    <a:pt x="1428368" y="64769"/>
                  </a:lnTo>
                  <a:lnTo>
                    <a:pt x="1410589" y="67310"/>
                  </a:lnTo>
                  <a:lnTo>
                    <a:pt x="1391792" y="68579"/>
                  </a:lnTo>
                  <a:lnTo>
                    <a:pt x="1353057" y="73660"/>
                  </a:lnTo>
                  <a:lnTo>
                    <a:pt x="1314957" y="81279"/>
                  </a:lnTo>
                  <a:lnTo>
                    <a:pt x="1274317" y="88900"/>
                  </a:lnTo>
                  <a:lnTo>
                    <a:pt x="1253489" y="93979"/>
                  </a:lnTo>
                  <a:lnTo>
                    <a:pt x="1232789" y="97789"/>
                  </a:lnTo>
                  <a:lnTo>
                    <a:pt x="1212595" y="102869"/>
                  </a:lnTo>
                  <a:lnTo>
                    <a:pt x="1193291" y="106679"/>
                  </a:lnTo>
                  <a:lnTo>
                    <a:pt x="1175384" y="111760"/>
                  </a:lnTo>
                  <a:lnTo>
                    <a:pt x="1159255" y="115569"/>
                  </a:lnTo>
                  <a:lnTo>
                    <a:pt x="1144651" y="119379"/>
                  </a:lnTo>
                  <a:lnTo>
                    <a:pt x="1130807" y="123189"/>
                  </a:lnTo>
                  <a:lnTo>
                    <a:pt x="1117600" y="128269"/>
                  </a:lnTo>
                  <a:lnTo>
                    <a:pt x="1104391" y="132079"/>
                  </a:lnTo>
                  <a:lnTo>
                    <a:pt x="1090676" y="135889"/>
                  </a:lnTo>
                  <a:lnTo>
                    <a:pt x="1041907" y="152400"/>
                  </a:lnTo>
                  <a:lnTo>
                    <a:pt x="1022984" y="160019"/>
                  </a:lnTo>
                  <a:lnTo>
                    <a:pt x="1003045" y="166369"/>
                  </a:lnTo>
                  <a:lnTo>
                    <a:pt x="982471" y="173989"/>
                  </a:lnTo>
                  <a:lnTo>
                    <a:pt x="941069" y="190500"/>
                  </a:lnTo>
                  <a:lnTo>
                    <a:pt x="920750" y="198119"/>
                  </a:lnTo>
                  <a:lnTo>
                    <a:pt x="901318" y="205739"/>
                  </a:lnTo>
                  <a:lnTo>
                    <a:pt x="825626" y="238760"/>
                  </a:lnTo>
                  <a:lnTo>
                    <a:pt x="807465" y="246379"/>
                  </a:lnTo>
                  <a:lnTo>
                    <a:pt x="789939" y="255269"/>
                  </a:lnTo>
                  <a:lnTo>
                    <a:pt x="773176" y="262889"/>
                  </a:lnTo>
                  <a:lnTo>
                    <a:pt x="757427" y="270510"/>
                  </a:lnTo>
                  <a:lnTo>
                    <a:pt x="742695" y="276860"/>
                  </a:lnTo>
                  <a:lnTo>
                    <a:pt x="729361" y="283210"/>
                  </a:lnTo>
                  <a:lnTo>
                    <a:pt x="716914" y="289560"/>
                  </a:lnTo>
                  <a:lnTo>
                    <a:pt x="704976" y="294639"/>
                  </a:lnTo>
                  <a:lnTo>
                    <a:pt x="681608" y="306069"/>
                  </a:lnTo>
                  <a:lnTo>
                    <a:pt x="669416" y="312419"/>
                  </a:lnTo>
                  <a:lnTo>
                    <a:pt x="656589" y="318769"/>
                  </a:lnTo>
                  <a:lnTo>
                    <a:pt x="642874" y="326389"/>
                  </a:lnTo>
                  <a:lnTo>
                    <a:pt x="628903" y="334010"/>
                  </a:lnTo>
                  <a:lnTo>
                    <a:pt x="571245" y="364489"/>
                  </a:lnTo>
                  <a:lnTo>
                    <a:pt x="557276" y="372110"/>
                  </a:lnTo>
                  <a:lnTo>
                    <a:pt x="543813" y="379729"/>
                  </a:lnTo>
                  <a:lnTo>
                    <a:pt x="537590" y="382269"/>
                  </a:lnTo>
                  <a:lnTo>
                    <a:pt x="531621" y="386079"/>
                  </a:lnTo>
                  <a:lnTo>
                    <a:pt x="521462" y="393700"/>
                  </a:lnTo>
                  <a:lnTo>
                    <a:pt x="512444" y="400050"/>
                  </a:lnTo>
                  <a:lnTo>
                    <a:pt x="503554" y="406400"/>
                  </a:lnTo>
                  <a:lnTo>
                    <a:pt x="493902" y="412750"/>
                  </a:lnTo>
                  <a:lnTo>
                    <a:pt x="488441" y="416560"/>
                  </a:lnTo>
                  <a:lnTo>
                    <a:pt x="482600" y="420369"/>
                  </a:lnTo>
                  <a:lnTo>
                    <a:pt x="476123" y="422910"/>
                  </a:lnTo>
                  <a:lnTo>
                    <a:pt x="468883" y="426719"/>
                  </a:lnTo>
                  <a:lnTo>
                    <a:pt x="460628" y="431800"/>
                  </a:lnTo>
                  <a:lnTo>
                    <a:pt x="451992" y="435610"/>
                  </a:lnTo>
                  <a:lnTo>
                    <a:pt x="441198" y="439419"/>
                  </a:lnTo>
                  <a:lnTo>
                    <a:pt x="431418" y="443229"/>
                  </a:lnTo>
                  <a:lnTo>
                    <a:pt x="422275" y="447039"/>
                  </a:lnTo>
                  <a:lnTo>
                    <a:pt x="414019" y="450850"/>
                  </a:lnTo>
                  <a:lnTo>
                    <a:pt x="406273" y="453389"/>
                  </a:lnTo>
                  <a:lnTo>
                    <a:pt x="399161" y="457200"/>
                  </a:lnTo>
                  <a:lnTo>
                    <a:pt x="386206" y="462279"/>
                  </a:lnTo>
                  <a:lnTo>
                    <a:pt x="362076" y="472439"/>
                  </a:lnTo>
                  <a:lnTo>
                    <a:pt x="349503" y="476250"/>
                  </a:lnTo>
                  <a:lnTo>
                    <a:pt x="342518" y="478789"/>
                  </a:lnTo>
                  <a:lnTo>
                    <a:pt x="335279" y="481329"/>
                  </a:lnTo>
                  <a:lnTo>
                    <a:pt x="319277" y="485139"/>
                  </a:lnTo>
                  <a:lnTo>
                    <a:pt x="302767" y="490219"/>
                  </a:lnTo>
                  <a:lnTo>
                    <a:pt x="251078" y="501650"/>
                  </a:lnTo>
                  <a:lnTo>
                    <a:pt x="234441" y="504189"/>
                  </a:lnTo>
                  <a:lnTo>
                    <a:pt x="203962" y="510539"/>
                  </a:lnTo>
                  <a:lnTo>
                    <a:pt x="190880" y="513079"/>
                  </a:lnTo>
                  <a:lnTo>
                    <a:pt x="179069" y="515619"/>
                  </a:lnTo>
                  <a:lnTo>
                    <a:pt x="157987" y="519429"/>
                  </a:lnTo>
                  <a:lnTo>
                    <a:pt x="147827" y="521969"/>
                  </a:lnTo>
                  <a:lnTo>
                    <a:pt x="137413" y="523239"/>
                  </a:lnTo>
                  <a:lnTo>
                    <a:pt x="114426" y="525779"/>
                  </a:lnTo>
                  <a:lnTo>
                    <a:pt x="101345" y="525779"/>
                  </a:lnTo>
                  <a:lnTo>
                    <a:pt x="87756" y="527050"/>
                  </a:lnTo>
                  <a:lnTo>
                    <a:pt x="59054" y="528319"/>
                  </a:lnTo>
                  <a:lnTo>
                    <a:pt x="0" y="529589"/>
                  </a:lnTo>
                  <a:lnTo>
                    <a:pt x="67" y="532129"/>
                  </a:lnTo>
                  <a:lnTo>
                    <a:pt x="169" y="535939"/>
                  </a:lnTo>
                  <a:lnTo>
                    <a:pt x="237" y="538479"/>
                  </a:lnTo>
                  <a:lnTo>
                    <a:pt x="304" y="541019"/>
                  </a:lnTo>
                  <a:lnTo>
                    <a:pt x="406" y="544829"/>
                  </a:lnTo>
                  <a:lnTo>
                    <a:pt x="507" y="548639"/>
                  </a:lnTo>
                  <a:lnTo>
                    <a:pt x="29844" y="548639"/>
                  </a:lnTo>
                  <a:lnTo>
                    <a:pt x="88518" y="546100"/>
                  </a:lnTo>
                  <a:lnTo>
                    <a:pt x="102615" y="544829"/>
                  </a:lnTo>
                  <a:lnTo>
                    <a:pt x="115950" y="544829"/>
                  </a:lnTo>
                  <a:lnTo>
                    <a:pt x="128396" y="543560"/>
                  </a:lnTo>
                  <a:lnTo>
                    <a:pt x="139700" y="541019"/>
                  </a:lnTo>
                  <a:lnTo>
                    <a:pt x="160908" y="538479"/>
                  </a:lnTo>
                  <a:lnTo>
                    <a:pt x="171576" y="535939"/>
                  </a:lnTo>
                  <a:lnTo>
                    <a:pt x="194437" y="532129"/>
                  </a:lnTo>
                  <a:lnTo>
                    <a:pt x="207644" y="529589"/>
                  </a:lnTo>
                  <a:lnTo>
                    <a:pt x="222376" y="527050"/>
                  </a:lnTo>
                  <a:lnTo>
                    <a:pt x="238125" y="523239"/>
                  </a:lnTo>
                  <a:lnTo>
                    <a:pt x="254762" y="519429"/>
                  </a:lnTo>
                  <a:lnTo>
                    <a:pt x="272033" y="516889"/>
                  </a:lnTo>
                  <a:lnTo>
                    <a:pt x="306958" y="508000"/>
                  </a:lnTo>
                  <a:lnTo>
                    <a:pt x="324103" y="504189"/>
                  </a:lnTo>
                  <a:lnTo>
                    <a:pt x="340359" y="499110"/>
                  </a:lnTo>
                  <a:lnTo>
                    <a:pt x="348233" y="496569"/>
                  </a:lnTo>
                  <a:lnTo>
                    <a:pt x="355345" y="494029"/>
                  </a:lnTo>
                  <a:lnTo>
                    <a:pt x="368553" y="490219"/>
                  </a:lnTo>
                  <a:lnTo>
                    <a:pt x="393445" y="480060"/>
                  </a:lnTo>
                  <a:lnTo>
                    <a:pt x="406526" y="473710"/>
                  </a:lnTo>
                  <a:lnTo>
                    <a:pt x="413765" y="471169"/>
                  </a:lnTo>
                  <a:lnTo>
                    <a:pt x="421258" y="468629"/>
                  </a:lnTo>
                  <a:lnTo>
                    <a:pt x="429513" y="464819"/>
                  </a:lnTo>
                  <a:lnTo>
                    <a:pt x="448182" y="457200"/>
                  </a:lnTo>
                  <a:lnTo>
                    <a:pt x="458724" y="453389"/>
                  </a:lnTo>
                  <a:lnTo>
                    <a:pt x="468756" y="448310"/>
                  </a:lnTo>
                  <a:lnTo>
                    <a:pt x="477265" y="444500"/>
                  </a:lnTo>
                  <a:lnTo>
                    <a:pt x="514223" y="421639"/>
                  </a:lnTo>
                  <a:lnTo>
                    <a:pt x="532638" y="408939"/>
                  </a:lnTo>
                  <a:lnTo>
                    <a:pt x="542289" y="402589"/>
                  </a:lnTo>
                  <a:lnTo>
                    <a:pt x="547624" y="398779"/>
                  </a:lnTo>
                  <a:lnTo>
                    <a:pt x="553592" y="394969"/>
                  </a:lnTo>
                  <a:lnTo>
                    <a:pt x="566546" y="388619"/>
                  </a:lnTo>
                  <a:lnTo>
                    <a:pt x="580263" y="381000"/>
                  </a:lnTo>
                  <a:lnTo>
                    <a:pt x="637666" y="350519"/>
                  </a:lnTo>
                  <a:lnTo>
                    <a:pt x="651637" y="342900"/>
                  </a:lnTo>
                  <a:lnTo>
                    <a:pt x="665226" y="336550"/>
                  </a:lnTo>
                  <a:lnTo>
                    <a:pt x="678052" y="330200"/>
                  </a:lnTo>
                  <a:lnTo>
                    <a:pt x="690117" y="323850"/>
                  </a:lnTo>
                  <a:lnTo>
                    <a:pt x="713486" y="312419"/>
                  </a:lnTo>
                  <a:lnTo>
                    <a:pt x="725296" y="306069"/>
                  </a:lnTo>
                  <a:lnTo>
                    <a:pt x="750951" y="293369"/>
                  </a:lnTo>
                  <a:lnTo>
                    <a:pt x="765428" y="287019"/>
                  </a:lnTo>
                  <a:lnTo>
                    <a:pt x="781176" y="280669"/>
                  </a:lnTo>
                  <a:lnTo>
                    <a:pt x="797940" y="271779"/>
                  </a:lnTo>
                  <a:lnTo>
                    <a:pt x="815466" y="264160"/>
                  </a:lnTo>
                  <a:lnTo>
                    <a:pt x="833501" y="255269"/>
                  </a:lnTo>
                  <a:lnTo>
                    <a:pt x="870965" y="240029"/>
                  </a:lnTo>
                  <a:lnTo>
                    <a:pt x="908684" y="223519"/>
                  </a:lnTo>
                  <a:lnTo>
                    <a:pt x="927988" y="215900"/>
                  </a:lnTo>
                  <a:lnTo>
                    <a:pt x="948054" y="208279"/>
                  </a:lnTo>
                  <a:lnTo>
                    <a:pt x="989202" y="191769"/>
                  </a:lnTo>
                  <a:lnTo>
                    <a:pt x="1009523" y="184150"/>
                  </a:lnTo>
                  <a:lnTo>
                    <a:pt x="1029462" y="177800"/>
                  </a:lnTo>
                  <a:lnTo>
                    <a:pt x="1048384" y="170179"/>
                  </a:lnTo>
                  <a:lnTo>
                    <a:pt x="1066038" y="163829"/>
                  </a:lnTo>
                  <a:lnTo>
                    <a:pt x="1082166" y="158750"/>
                  </a:lnTo>
                  <a:lnTo>
                    <a:pt x="1096771" y="153669"/>
                  </a:lnTo>
                  <a:lnTo>
                    <a:pt x="1110233" y="149860"/>
                  </a:lnTo>
                  <a:lnTo>
                    <a:pt x="1149603" y="138429"/>
                  </a:lnTo>
                  <a:lnTo>
                    <a:pt x="1164208" y="134619"/>
                  </a:lnTo>
                  <a:lnTo>
                    <a:pt x="1180211" y="130810"/>
                  </a:lnTo>
                  <a:lnTo>
                    <a:pt x="1197990" y="125729"/>
                  </a:lnTo>
                  <a:lnTo>
                    <a:pt x="1217040" y="121919"/>
                  </a:lnTo>
                  <a:lnTo>
                    <a:pt x="1257680" y="111760"/>
                  </a:lnTo>
                  <a:lnTo>
                    <a:pt x="1278381" y="107950"/>
                  </a:lnTo>
                  <a:lnTo>
                    <a:pt x="1298828" y="102869"/>
                  </a:lnTo>
                  <a:lnTo>
                    <a:pt x="1318640" y="99060"/>
                  </a:lnTo>
                  <a:lnTo>
                    <a:pt x="1337564" y="96519"/>
                  </a:lnTo>
                  <a:lnTo>
                    <a:pt x="1356105" y="92710"/>
                  </a:lnTo>
                  <a:lnTo>
                    <a:pt x="1394205" y="87629"/>
                  </a:lnTo>
                  <a:lnTo>
                    <a:pt x="1412748" y="86360"/>
                  </a:lnTo>
                  <a:lnTo>
                    <a:pt x="1430401" y="83819"/>
                  </a:lnTo>
                  <a:lnTo>
                    <a:pt x="1454150" y="81279"/>
                  </a:lnTo>
                  <a:lnTo>
                    <a:pt x="1461007" y="81279"/>
                  </a:lnTo>
                  <a:lnTo>
                    <a:pt x="1467484" y="80010"/>
                  </a:lnTo>
                  <a:lnTo>
                    <a:pt x="1473327" y="80010"/>
                  </a:lnTo>
                  <a:lnTo>
                    <a:pt x="1495043" y="77469"/>
                  </a:lnTo>
                  <a:lnTo>
                    <a:pt x="1514220" y="74929"/>
                  </a:lnTo>
                  <a:lnTo>
                    <a:pt x="1547367" y="72389"/>
                  </a:lnTo>
                  <a:lnTo>
                    <a:pt x="1577339" y="68579"/>
                  </a:lnTo>
                  <a:lnTo>
                    <a:pt x="1732026" y="57150"/>
                  </a:lnTo>
                  <a:lnTo>
                    <a:pt x="1752727" y="57150"/>
                  </a:lnTo>
                  <a:lnTo>
                    <a:pt x="1798827" y="54610"/>
                  </a:lnTo>
                  <a:lnTo>
                    <a:pt x="1849501" y="53339"/>
                  </a:lnTo>
                  <a:lnTo>
                    <a:pt x="1953514" y="52069"/>
                  </a:lnTo>
                  <a:lnTo>
                    <a:pt x="1975992" y="50800"/>
                  </a:lnTo>
                  <a:lnTo>
                    <a:pt x="2015998" y="50800"/>
                  </a:lnTo>
                  <a:lnTo>
                    <a:pt x="2033524" y="49529"/>
                  </a:lnTo>
                  <a:close/>
                </a:path>
                <a:path w="2269490" h="548639">
                  <a:moveTo>
                    <a:pt x="2154936" y="27939"/>
                  </a:moveTo>
                  <a:lnTo>
                    <a:pt x="2142253" y="28820"/>
                  </a:lnTo>
                  <a:lnTo>
                    <a:pt x="2142363" y="50800"/>
                  </a:lnTo>
                  <a:lnTo>
                    <a:pt x="2142490" y="76200"/>
                  </a:lnTo>
                  <a:lnTo>
                    <a:pt x="2236527" y="46989"/>
                  </a:lnTo>
                  <a:lnTo>
                    <a:pt x="2155063" y="46989"/>
                  </a:lnTo>
                  <a:lnTo>
                    <a:pt x="2154936" y="27939"/>
                  </a:lnTo>
                  <a:close/>
                </a:path>
                <a:path w="2269490" h="548639">
                  <a:moveTo>
                    <a:pt x="2142253" y="28820"/>
                  </a:moveTo>
                  <a:lnTo>
                    <a:pt x="2136648" y="29210"/>
                  </a:lnTo>
                  <a:lnTo>
                    <a:pt x="2089657" y="29210"/>
                  </a:lnTo>
                  <a:lnTo>
                    <a:pt x="2063877" y="30479"/>
                  </a:lnTo>
                  <a:lnTo>
                    <a:pt x="2033015" y="30479"/>
                  </a:lnTo>
                  <a:lnTo>
                    <a:pt x="2015489" y="31750"/>
                  </a:lnTo>
                  <a:lnTo>
                    <a:pt x="1975612" y="31750"/>
                  </a:lnTo>
                  <a:lnTo>
                    <a:pt x="1953132" y="33019"/>
                  </a:lnTo>
                  <a:lnTo>
                    <a:pt x="1901570" y="33019"/>
                  </a:lnTo>
                  <a:lnTo>
                    <a:pt x="1848992" y="34289"/>
                  </a:lnTo>
                  <a:lnTo>
                    <a:pt x="1823212" y="35560"/>
                  </a:lnTo>
                  <a:lnTo>
                    <a:pt x="1798192" y="35560"/>
                  </a:lnTo>
                  <a:lnTo>
                    <a:pt x="1751838" y="38100"/>
                  </a:lnTo>
                  <a:lnTo>
                    <a:pt x="1731009" y="38100"/>
                  </a:lnTo>
                  <a:lnTo>
                    <a:pt x="1607946" y="46989"/>
                  </a:lnTo>
                  <a:lnTo>
                    <a:pt x="1591309" y="49529"/>
                  </a:lnTo>
                  <a:lnTo>
                    <a:pt x="2064384" y="49529"/>
                  </a:lnTo>
                  <a:lnTo>
                    <a:pt x="2090039" y="48260"/>
                  </a:lnTo>
                  <a:lnTo>
                    <a:pt x="2129281" y="48260"/>
                  </a:lnTo>
                  <a:lnTo>
                    <a:pt x="2137155" y="46989"/>
                  </a:lnTo>
                  <a:lnTo>
                    <a:pt x="2142343" y="46989"/>
                  </a:lnTo>
                  <a:lnTo>
                    <a:pt x="2142253" y="28820"/>
                  </a:lnTo>
                  <a:close/>
                </a:path>
                <a:path w="2269490" h="548639">
                  <a:moveTo>
                    <a:pt x="2238550" y="27939"/>
                  </a:moveTo>
                  <a:lnTo>
                    <a:pt x="2154936" y="27939"/>
                  </a:lnTo>
                  <a:lnTo>
                    <a:pt x="2155063" y="46989"/>
                  </a:lnTo>
                  <a:lnTo>
                    <a:pt x="2236527" y="46989"/>
                  </a:lnTo>
                  <a:lnTo>
                    <a:pt x="2269236" y="36829"/>
                  </a:lnTo>
                  <a:lnTo>
                    <a:pt x="2238550" y="27939"/>
                  </a:lnTo>
                  <a:close/>
                </a:path>
                <a:path w="2269490" h="548639">
                  <a:moveTo>
                    <a:pt x="2142108" y="0"/>
                  </a:moveTo>
                  <a:lnTo>
                    <a:pt x="2142248" y="27939"/>
                  </a:lnTo>
                  <a:lnTo>
                    <a:pt x="2142253" y="28820"/>
                  </a:lnTo>
                  <a:lnTo>
                    <a:pt x="2154936" y="27939"/>
                  </a:lnTo>
                  <a:lnTo>
                    <a:pt x="2238550" y="27939"/>
                  </a:lnTo>
                  <a:lnTo>
                    <a:pt x="21421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4236" y="1295400"/>
              <a:ext cx="550926" cy="6560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040" y="1283208"/>
              <a:ext cx="5345430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43371" y="1283208"/>
              <a:ext cx="1760981" cy="6774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7267" y="1283208"/>
              <a:ext cx="1860042" cy="6774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1040" y="1612392"/>
              <a:ext cx="5061966" cy="67741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17419" y="2107691"/>
              <a:ext cx="1320545" cy="56768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17419" y="2473452"/>
              <a:ext cx="1320545" cy="5676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17419" y="2839211"/>
              <a:ext cx="1320545" cy="5676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17419" y="3204972"/>
              <a:ext cx="1320545" cy="5676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17419" y="3570731"/>
              <a:ext cx="1320545" cy="56768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4236" y="3945636"/>
              <a:ext cx="550926" cy="6560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1040" y="3933443"/>
              <a:ext cx="1928622" cy="6774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8012" y="4399787"/>
              <a:ext cx="432054" cy="52806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2331" y="4375403"/>
              <a:ext cx="6008370" cy="56769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8012" y="4765548"/>
              <a:ext cx="432054" cy="52806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32331" y="4741163"/>
              <a:ext cx="4121658" cy="56769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14900" y="4741163"/>
              <a:ext cx="758189" cy="56769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10200" y="4741163"/>
              <a:ext cx="3041142" cy="56769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32331" y="5045963"/>
              <a:ext cx="4555998" cy="56769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49239" y="5045963"/>
              <a:ext cx="608838" cy="56769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18988" y="5045963"/>
              <a:ext cx="1753362" cy="56769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33259" y="5045963"/>
              <a:ext cx="608838" cy="56769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03007" y="5045963"/>
              <a:ext cx="770381" cy="56769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8012" y="5436108"/>
              <a:ext cx="432054" cy="52806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32331" y="5411723"/>
              <a:ext cx="6506718" cy="56769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8012" y="5801867"/>
              <a:ext cx="432054" cy="52806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32331" y="5777484"/>
              <a:ext cx="7244333" cy="56769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35940" y="1360678"/>
            <a:ext cx="8129270" cy="48126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As</a:t>
            </a:r>
            <a:r>
              <a:rPr sz="2400" spc="-7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shown</a:t>
            </a:r>
            <a:r>
              <a:rPr sz="24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on</a:t>
            </a:r>
            <a:r>
              <a:rPr sz="2400" spc="-6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the</a:t>
            </a:r>
            <a:r>
              <a:rPr sz="24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previous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page,</a:t>
            </a:r>
            <a:r>
              <a:rPr sz="24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the</a:t>
            </a:r>
            <a:r>
              <a:rPr sz="2400" spc="-11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ReadyAVR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joystick</a:t>
            </a:r>
            <a:r>
              <a:rPr sz="24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D1879"/>
                </a:solidFill>
                <a:latin typeface="Trebuchet MS"/>
                <a:cs typeface="Trebuchet MS"/>
              </a:rPr>
              <a:t>is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connect</a:t>
            </a:r>
            <a:r>
              <a:rPr sz="24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to</a:t>
            </a:r>
            <a:r>
              <a:rPr sz="24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five</a:t>
            </a:r>
            <a:r>
              <a:rPr sz="24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ATmega128A</a:t>
            </a:r>
            <a:r>
              <a:rPr sz="24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D1879"/>
                </a:solidFill>
                <a:latin typeface="Trebuchet MS"/>
                <a:cs typeface="Trebuchet MS"/>
              </a:rPr>
              <a:t>pins:</a:t>
            </a:r>
            <a:endParaRPr sz="2400">
              <a:latin typeface="Trebuchet MS"/>
              <a:cs typeface="Trebuchet MS"/>
            </a:endParaRPr>
          </a:p>
          <a:p>
            <a:pPr marL="1841500" marR="5299075" algn="just">
              <a:lnSpc>
                <a:spcPct val="120000"/>
              </a:lnSpc>
              <a:spcBef>
                <a:spcPts val="405"/>
              </a:spcBef>
            </a:pPr>
            <a:r>
              <a:rPr sz="2000" spc="-10" dirty="0">
                <a:solidFill>
                  <a:srgbClr val="4D1879"/>
                </a:solidFill>
                <a:latin typeface="Trebuchet MS"/>
                <a:cs typeface="Trebuchet MS"/>
              </a:rPr>
              <a:t>PORTB.4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PORTB.3 </a:t>
            </a:r>
            <a:r>
              <a:rPr sz="2000" spc="-10" dirty="0">
                <a:solidFill>
                  <a:srgbClr val="4D1879"/>
                </a:solidFill>
                <a:latin typeface="Trebuchet MS"/>
                <a:cs typeface="Trebuchet MS"/>
              </a:rPr>
              <a:t>PORTB.2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PORTB.1 </a:t>
            </a:r>
            <a:r>
              <a:rPr sz="2000" spc="-10" dirty="0">
                <a:solidFill>
                  <a:srgbClr val="4D1879"/>
                </a:solidFill>
                <a:latin typeface="Trebuchet MS"/>
                <a:cs typeface="Trebuchet MS"/>
              </a:rPr>
              <a:t>PORTB.0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Key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D1879"/>
                </a:solidFill>
                <a:latin typeface="Trebuchet MS"/>
                <a:cs typeface="Trebuchet MS"/>
              </a:rPr>
              <a:t>points: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PORTB.1</a:t>
            </a:r>
            <a:r>
              <a:rPr sz="20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and</a:t>
            </a:r>
            <a:r>
              <a:rPr sz="20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PORTB.3</a:t>
            </a:r>
            <a:r>
              <a:rPr sz="20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cannot</a:t>
            </a:r>
            <a:r>
              <a:rPr sz="20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generate</a:t>
            </a:r>
            <a:r>
              <a:rPr sz="2000" spc="-7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D1879"/>
                </a:solidFill>
                <a:latin typeface="Trebuchet MS"/>
                <a:cs typeface="Trebuchet MS"/>
              </a:rPr>
              <a:t>interrupts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However,</a:t>
            </a:r>
            <a:r>
              <a:rPr sz="20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PORTD.1</a:t>
            </a:r>
            <a:r>
              <a:rPr sz="20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and</a:t>
            </a:r>
            <a:r>
              <a:rPr sz="20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PORTD.3</a:t>
            </a:r>
            <a:r>
              <a:rPr sz="20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b="1" i="1" dirty="0">
                <a:solidFill>
                  <a:srgbClr val="4D1879"/>
                </a:solidFill>
                <a:latin typeface="Trebuchet MS"/>
                <a:cs typeface="Trebuchet MS"/>
              </a:rPr>
              <a:t>can</a:t>
            </a:r>
            <a:r>
              <a:rPr sz="2000" b="1" i="1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generate</a:t>
            </a:r>
            <a:r>
              <a:rPr sz="20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interrupts,</a:t>
            </a:r>
            <a:r>
              <a:rPr sz="20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D1879"/>
                </a:solidFill>
                <a:latin typeface="Trebuchet MS"/>
                <a:cs typeface="Trebuchet MS"/>
              </a:rPr>
              <a:t>so</a:t>
            </a:r>
            <a:endParaRPr sz="2000">
              <a:latin typeface="Trebuchet MS"/>
              <a:cs typeface="Trebuchet MS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externally</a:t>
            </a:r>
            <a:r>
              <a:rPr sz="20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connect</a:t>
            </a:r>
            <a:r>
              <a:rPr sz="20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(via</a:t>
            </a:r>
            <a:r>
              <a:rPr sz="20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jumpers)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PB1</a:t>
            </a:r>
            <a:r>
              <a:rPr sz="2000" dirty="0">
                <a:solidFill>
                  <a:srgbClr val="FF0000"/>
                </a:solidFill>
                <a:latin typeface="Wingdings"/>
                <a:cs typeface="Wingdings"/>
              </a:rPr>
              <a:t>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PD1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PB3</a:t>
            </a:r>
            <a:r>
              <a:rPr sz="2000" spc="-10" dirty="0">
                <a:solidFill>
                  <a:srgbClr val="FF0000"/>
                </a:solidFill>
                <a:latin typeface="Wingdings"/>
                <a:cs typeface="Wingdings"/>
              </a:rPr>
              <a:t>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PD3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Then</a:t>
            </a:r>
            <a:r>
              <a:rPr sz="20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program</a:t>
            </a:r>
            <a:r>
              <a:rPr sz="20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PD1</a:t>
            </a:r>
            <a:r>
              <a:rPr sz="20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(down)</a:t>
            </a:r>
            <a:r>
              <a:rPr sz="20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and</a:t>
            </a:r>
            <a:r>
              <a:rPr sz="20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PD3</a:t>
            </a:r>
            <a:r>
              <a:rPr sz="20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(up)</a:t>
            </a:r>
            <a:r>
              <a:rPr sz="20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to</a:t>
            </a:r>
            <a:r>
              <a:rPr sz="20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trigger</a:t>
            </a:r>
            <a:r>
              <a:rPr sz="20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D1879"/>
                </a:solidFill>
                <a:latin typeface="Trebuchet MS"/>
                <a:cs typeface="Trebuchet MS"/>
              </a:rPr>
              <a:t>ISRs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MAKE</a:t>
            </a:r>
            <a:r>
              <a:rPr sz="20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SURE</a:t>
            </a:r>
            <a:r>
              <a:rPr sz="20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BOTH</a:t>
            </a:r>
            <a:r>
              <a:rPr sz="20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SETS</a:t>
            </a:r>
            <a:r>
              <a:rPr sz="20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OF</a:t>
            </a:r>
            <a:r>
              <a:rPr sz="20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PINS</a:t>
            </a:r>
            <a:r>
              <a:rPr sz="20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ARE</a:t>
            </a:r>
            <a:r>
              <a:rPr sz="20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CONFIGURED</a:t>
            </a:r>
            <a:r>
              <a:rPr sz="20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D1879"/>
                </a:solidFill>
                <a:latin typeface="Trebuchet MS"/>
                <a:cs typeface="Trebuchet MS"/>
              </a:rPr>
              <a:t>AS</a:t>
            </a:r>
            <a:r>
              <a:rPr sz="20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D1879"/>
                </a:solidFill>
                <a:latin typeface="Trebuchet MS"/>
                <a:cs typeface="Trebuchet MS"/>
              </a:rPr>
              <a:t>INPUTS!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28472" y="5673852"/>
            <a:ext cx="7814309" cy="714375"/>
            <a:chOff x="728472" y="5673852"/>
            <a:chExt cx="7814309" cy="714375"/>
          </a:xfrm>
        </p:grpSpPr>
        <p:pic>
          <p:nvPicPr>
            <p:cNvPr id="39" name="object 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54380" y="5699760"/>
              <a:ext cx="7788402" cy="68808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8472" y="5673852"/>
              <a:ext cx="7789926" cy="68808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99439" y="5744451"/>
              <a:ext cx="7650480" cy="549910"/>
            </a:xfrm>
            <a:custGeom>
              <a:avLst/>
              <a:gdLst/>
              <a:ahLst/>
              <a:cxnLst/>
              <a:rect l="l" t="t" r="r" b="b"/>
              <a:pathLst>
                <a:path w="7650480" h="549910">
                  <a:moveTo>
                    <a:pt x="6080150" y="0"/>
                  </a:moveTo>
                  <a:lnTo>
                    <a:pt x="6019179" y="34"/>
                  </a:lnTo>
                  <a:lnTo>
                    <a:pt x="5953243" y="107"/>
                  </a:lnTo>
                  <a:lnTo>
                    <a:pt x="5882549" y="218"/>
                  </a:lnTo>
                  <a:lnTo>
                    <a:pt x="5807304" y="370"/>
                  </a:lnTo>
                  <a:lnTo>
                    <a:pt x="5768038" y="461"/>
                  </a:lnTo>
                  <a:lnTo>
                    <a:pt x="5727713" y="562"/>
                  </a:lnTo>
                  <a:lnTo>
                    <a:pt x="5686353" y="673"/>
                  </a:lnTo>
                  <a:lnTo>
                    <a:pt x="5643983" y="795"/>
                  </a:lnTo>
                  <a:lnTo>
                    <a:pt x="5600631" y="927"/>
                  </a:lnTo>
                  <a:lnTo>
                    <a:pt x="5556322" y="1070"/>
                  </a:lnTo>
                  <a:lnTo>
                    <a:pt x="5511081" y="1224"/>
                  </a:lnTo>
                  <a:lnTo>
                    <a:pt x="5464935" y="1388"/>
                  </a:lnTo>
                  <a:lnTo>
                    <a:pt x="5417908" y="1564"/>
                  </a:lnTo>
                  <a:lnTo>
                    <a:pt x="5370028" y="1750"/>
                  </a:lnTo>
                  <a:lnTo>
                    <a:pt x="5321320" y="1947"/>
                  </a:lnTo>
                  <a:lnTo>
                    <a:pt x="5271809" y="2155"/>
                  </a:lnTo>
                  <a:lnTo>
                    <a:pt x="5221522" y="2375"/>
                  </a:lnTo>
                  <a:lnTo>
                    <a:pt x="5170484" y="2605"/>
                  </a:lnTo>
                  <a:lnTo>
                    <a:pt x="5118721" y="2848"/>
                  </a:lnTo>
                  <a:lnTo>
                    <a:pt x="5066258" y="3101"/>
                  </a:lnTo>
                  <a:lnTo>
                    <a:pt x="5013123" y="3367"/>
                  </a:lnTo>
                  <a:lnTo>
                    <a:pt x="4959340" y="3643"/>
                  </a:lnTo>
                  <a:lnTo>
                    <a:pt x="4904936" y="3932"/>
                  </a:lnTo>
                  <a:lnTo>
                    <a:pt x="4849935" y="4233"/>
                  </a:lnTo>
                  <a:lnTo>
                    <a:pt x="4794364" y="4545"/>
                  </a:lnTo>
                  <a:lnTo>
                    <a:pt x="4738250" y="4869"/>
                  </a:lnTo>
                  <a:lnTo>
                    <a:pt x="4681616" y="5206"/>
                  </a:lnTo>
                  <a:lnTo>
                    <a:pt x="4624491" y="5555"/>
                  </a:lnTo>
                  <a:lnTo>
                    <a:pt x="4566898" y="5916"/>
                  </a:lnTo>
                  <a:lnTo>
                    <a:pt x="4508864" y="6289"/>
                  </a:lnTo>
                  <a:lnTo>
                    <a:pt x="4450415" y="6675"/>
                  </a:lnTo>
                  <a:lnTo>
                    <a:pt x="4391577" y="7074"/>
                  </a:lnTo>
                  <a:lnTo>
                    <a:pt x="4332375" y="7485"/>
                  </a:lnTo>
                  <a:lnTo>
                    <a:pt x="4272836" y="7909"/>
                  </a:lnTo>
                  <a:lnTo>
                    <a:pt x="4212984" y="8345"/>
                  </a:lnTo>
                  <a:lnTo>
                    <a:pt x="4152846" y="8795"/>
                  </a:lnTo>
                  <a:lnTo>
                    <a:pt x="4092448" y="9258"/>
                  </a:lnTo>
                  <a:lnTo>
                    <a:pt x="4031816" y="9733"/>
                  </a:lnTo>
                  <a:lnTo>
                    <a:pt x="3970974" y="10222"/>
                  </a:lnTo>
                  <a:lnTo>
                    <a:pt x="3909950" y="10725"/>
                  </a:lnTo>
                  <a:lnTo>
                    <a:pt x="3848769" y="11240"/>
                  </a:lnTo>
                  <a:lnTo>
                    <a:pt x="3787456" y="11769"/>
                  </a:lnTo>
                  <a:lnTo>
                    <a:pt x="3726038" y="12312"/>
                  </a:lnTo>
                  <a:lnTo>
                    <a:pt x="3664541" y="12868"/>
                  </a:lnTo>
                  <a:lnTo>
                    <a:pt x="3602989" y="13438"/>
                  </a:lnTo>
                  <a:lnTo>
                    <a:pt x="3541410" y="14022"/>
                  </a:lnTo>
                  <a:lnTo>
                    <a:pt x="3479828" y="14620"/>
                  </a:lnTo>
                  <a:lnTo>
                    <a:pt x="3418270" y="15231"/>
                  </a:lnTo>
                  <a:lnTo>
                    <a:pt x="3356761" y="15857"/>
                  </a:lnTo>
                  <a:lnTo>
                    <a:pt x="3295328" y="16497"/>
                  </a:lnTo>
                  <a:lnTo>
                    <a:pt x="3233995" y="17151"/>
                  </a:lnTo>
                  <a:lnTo>
                    <a:pt x="3172790" y="17820"/>
                  </a:lnTo>
                  <a:lnTo>
                    <a:pt x="3111737" y="18503"/>
                  </a:lnTo>
                  <a:lnTo>
                    <a:pt x="3050862" y="19201"/>
                  </a:lnTo>
                  <a:lnTo>
                    <a:pt x="2990192" y="19913"/>
                  </a:lnTo>
                  <a:lnTo>
                    <a:pt x="2929752" y="20640"/>
                  </a:lnTo>
                  <a:lnTo>
                    <a:pt x="2869568" y="21382"/>
                  </a:lnTo>
                  <a:lnTo>
                    <a:pt x="2809665" y="22139"/>
                  </a:lnTo>
                  <a:lnTo>
                    <a:pt x="2750070" y="22911"/>
                  </a:lnTo>
                  <a:lnTo>
                    <a:pt x="2690808" y="23697"/>
                  </a:lnTo>
                  <a:lnTo>
                    <a:pt x="2631906" y="24499"/>
                  </a:lnTo>
                  <a:lnTo>
                    <a:pt x="2573388" y="25317"/>
                  </a:lnTo>
                  <a:lnTo>
                    <a:pt x="2515281" y="26149"/>
                  </a:lnTo>
                  <a:lnTo>
                    <a:pt x="2457611" y="26997"/>
                  </a:lnTo>
                  <a:lnTo>
                    <a:pt x="2400403" y="27861"/>
                  </a:lnTo>
                  <a:lnTo>
                    <a:pt x="2343684" y="28740"/>
                  </a:lnTo>
                  <a:lnTo>
                    <a:pt x="2287478" y="29635"/>
                  </a:lnTo>
                  <a:lnTo>
                    <a:pt x="2231812" y="30546"/>
                  </a:lnTo>
                  <a:lnTo>
                    <a:pt x="2176712" y="31473"/>
                  </a:lnTo>
                  <a:lnTo>
                    <a:pt x="2122203" y="32415"/>
                  </a:lnTo>
                  <a:lnTo>
                    <a:pt x="2068312" y="33374"/>
                  </a:lnTo>
                  <a:lnTo>
                    <a:pt x="2015063" y="34349"/>
                  </a:lnTo>
                  <a:lnTo>
                    <a:pt x="1962484" y="35340"/>
                  </a:lnTo>
                  <a:lnTo>
                    <a:pt x="1910599" y="36348"/>
                  </a:lnTo>
                  <a:lnTo>
                    <a:pt x="1859434" y="37372"/>
                  </a:lnTo>
                  <a:lnTo>
                    <a:pt x="1809016" y="38412"/>
                  </a:lnTo>
                  <a:lnTo>
                    <a:pt x="1759370" y="39469"/>
                  </a:lnTo>
                  <a:lnTo>
                    <a:pt x="1710522" y="40543"/>
                  </a:lnTo>
                  <a:lnTo>
                    <a:pt x="1662498" y="41634"/>
                  </a:lnTo>
                  <a:lnTo>
                    <a:pt x="1615323" y="42741"/>
                  </a:lnTo>
                  <a:lnTo>
                    <a:pt x="1569024" y="43866"/>
                  </a:lnTo>
                  <a:lnTo>
                    <a:pt x="1523626" y="45007"/>
                  </a:lnTo>
                  <a:lnTo>
                    <a:pt x="1479155" y="46166"/>
                  </a:lnTo>
                  <a:lnTo>
                    <a:pt x="1435636" y="47342"/>
                  </a:lnTo>
                  <a:lnTo>
                    <a:pt x="1393096" y="48535"/>
                  </a:lnTo>
                  <a:lnTo>
                    <a:pt x="1351561" y="49746"/>
                  </a:lnTo>
                  <a:lnTo>
                    <a:pt x="1311056" y="50974"/>
                  </a:lnTo>
                  <a:lnTo>
                    <a:pt x="1271607" y="52220"/>
                  </a:lnTo>
                  <a:lnTo>
                    <a:pt x="1233240" y="53484"/>
                  </a:lnTo>
                  <a:lnTo>
                    <a:pt x="1159854" y="56064"/>
                  </a:lnTo>
                  <a:lnTo>
                    <a:pt x="1091106" y="58717"/>
                  </a:lnTo>
                  <a:lnTo>
                    <a:pt x="1027201" y="61442"/>
                  </a:lnTo>
                  <a:lnTo>
                    <a:pt x="900656" y="67324"/>
                  </a:lnTo>
                  <a:lnTo>
                    <a:pt x="785051" y="73121"/>
                  </a:lnTo>
                  <a:lnTo>
                    <a:pt x="679885" y="78887"/>
                  </a:lnTo>
                  <a:lnTo>
                    <a:pt x="584659" y="84679"/>
                  </a:lnTo>
                  <a:lnTo>
                    <a:pt x="498874" y="90551"/>
                  </a:lnTo>
                  <a:lnTo>
                    <a:pt x="422032" y="96560"/>
                  </a:lnTo>
                  <a:lnTo>
                    <a:pt x="353631" y="102761"/>
                  </a:lnTo>
                  <a:lnTo>
                    <a:pt x="293174" y="109209"/>
                  </a:lnTo>
                  <a:lnTo>
                    <a:pt x="240161" y="115961"/>
                  </a:lnTo>
                  <a:lnTo>
                    <a:pt x="194093" y="123071"/>
                  </a:lnTo>
                  <a:lnTo>
                    <a:pt x="154470" y="130596"/>
                  </a:lnTo>
                  <a:lnTo>
                    <a:pt x="92564" y="147109"/>
                  </a:lnTo>
                  <a:lnTo>
                    <a:pt x="50447" y="165947"/>
                  </a:lnTo>
                  <a:lnTo>
                    <a:pt x="15642" y="199531"/>
                  </a:lnTo>
                  <a:lnTo>
                    <a:pt x="2897" y="240843"/>
                  </a:lnTo>
                  <a:lnTo>
                    <a:pt x="0" y="273418"/>
                  </a:lnTo>
                  <a:lnTo>
                    <a:pt x="360" y="292607"/>
                  </a:lnTo>
                  <a:lnTo>
                    <a:pt x="23241" y="341311"/>
                  </a:lnTo>
                  <a:lnTo>
                    <a:pt x="58435" y="367377"/>
                  </a:lnTo>
                  <a:lnTo>
                    <a:pt x="111241" y="389240"/>
                  </a:lnTo>
                  <a:lnTo>
                    <a:pt x="183078" y="407684"/>
                  </a:lnTo>
                  <a:lnTo>
                    <a:pt x="226577" y="415870"/>
                  </a:lnTo>
                  <a:lnTo>
                    <a:pt x="275367" y="423496"/>
                  </a:lnTo>
                  <a:lnTo>
                    <a:pt x="329626" y="430662"/>
                  </a:lnTo>
                  <a:lnTo>
                    <a:pt x="389530" y="437464"/>
                  </a:lnTo>
                  <a:lnTo>
                    <a:pt x="455258" y="444002"/>
                  </a:lnTo>
                  <a:lnTo>
                    <a:pt x="526987" y="450373"/>
                  </a:lnTo>
                  <a:lnTo>
                    <a:pt x="604895" y="456676"/>
                  </a:lnTo>
                  <a:lnTo>
                    <a:pt x="689160" y="463010"/>
                  </a:lnTo>
                  <a:lnTo>
                    <a:pt x="779958" y="469472"/>
                  </a:lnTo>
                  <a:lnTo>
                    <a:pt x="877468" y="476161"/>
                  </a:lnTo>
                  <a:lnTo>
                    <a:pt x="945011" y="480489"/>
                  </a:lnTo>
                  <a:lnTo>
                    <a:pt x="1017246" y="484657"/>
                  </a:lnTo>
                  <a:lnTo>
                    <a:pt x="1093926" y="488667"/>
                  </a:lnTo>
                  <a:lnTo>
                    <a:pt x="1133855" y="490614"/>
                  </a:lnTo>
                  <a:lnTo>
                    <a:pt x="1174801" y="492522"/>
                  </a:lnTo>
                  <a:lnTo>
                    <a:pt x="1216735" y="494392"/>
                  </a:lnTo>
                  <a:lnTo>
                    <a:pt x="1259624" y="496223"/>
                  </a:lnTo>
                  <a:lnTo>
                    <a:pt x="1303438" y="498017"/>
                  </a:lnTo>
                  <a:lnTo>
                    <a:pt x="1348145" y="499774"/>
                  </a:lnTo>
                  <a:lnTo>
                    <a:pt x="1393716" y="501494"/>
                  </a:lnTo>
                  <a:lnTo>
                    <a:pt x="1440117" y="503176"/>
                  </a:lnTo>
                  <a:lnTo>
                    <a:pt x="1487320" y="504823"/>
                  </a:lnTo>
                  <a:lnTo>
                    <a:pt x="1535292" y="506433"/>
                  </a:lnTo>
                  <a:lnTo>
                    <a:pt x="1584003" y="508008"/>
                  </a:lnTo>
                  <a:lnTo>
                    <a:pt x="1633421" y="509547"/>
                  </a:lnTo>
                  <a:lnTo>
                    <a:pt x="1683515" y="511051"/>
                  </a:lnTo>
                  <a:lnTo>
                    <a:pt x="1734255" y="512520"/>
                  </a:lnTo>
                  <a:lnTo>
                    <a:pt x="1785609" y="513954"/>
                  </a:lnTo>
                  <a:lnTo>
                    <a:pt x="1837546" y="515354"/>
                  </a:lnTo>
                  <a:lnTo>
                    <a:pt x="1890036" y="516720"/>
                  </a:lnTo>
                  <a:lnTo>
                    <a:pt x="1943047" y="518053"/>
                  </a:lnTo>
                  <a:lnTo>
                    <a:pt x="1996548" y="519352"/>
                  </a:lnTo>
                  <a:lnTo>
                    <a:pt x="2050508" y="520619"/>
                  </a:lnTo>
                  <a:lnTo>
                    <a:pt x="2104896" y="521852"/>
                  </a:lnTo>
                  <a:lnTo>
                    <a:pt x="2159682" y="523053"/>
                  </a:lnTo>
                  <a:lnTo>
                    <a:pt x="2214833" y="524222"/>
                  </a:lnTo>
                  <a:lnTo>
                    <a:pt x="2270319" y="525360"/>
                  </a:lnTo>
                  <a:lnTo>
                    <a:pt x="2326109" y="526465"/>
                  </a:lnTo>
                  <a:lnTo>
                    <a:pt x="2382172" y="527540"/>
                  </a:lnTo>
                  <a:lnTo>
                    <a:pt x="2438477" y="528584"/>
                  </a:lnTo>
                  <a:lnTo>
                    <a:pt x="2494993" y="529597"/>
                  </a:lnTo>
                  <a:lnTo>
                    <a:pt x="2551688" y="530580"/>
                  </a:lnTo>
                  <a:lnTo>
                    <a:pt x="2608532" y="531533"/>
                  </a:lnTo>
                  <a:lnTo>
                    <a:pt x="2665494" y="532456"/>
                  </a:lnTo>
                  <a:lnTo>
                    <a:pt x="2722542" y="533351"/>
                  </a:lnTo>
                  <a:lnTo>
                    <a:pt x="2779646" y="534216"/>
                  </a:lnTo>
                  <a:lnTo>
                    <a:pt x="2836774" y="535052"/>
                  </a:lnTo>
                  <a:lnTo>
                    <a:pt x="2893896" y="535860"/>
                  </a:lnTo>
                  <a:lnTo>
                    <a:pt x="2950980" y="536640"/>
                  </a:lnTo>
                  <a:lnTo>
                    <a:pt x="3007996" y="537393"/>
                  </a:lnTo>
                  <a:lnTo>
                    <a:pt x="3064912" y="538117"/>
                  </a:lnTo>
                  <a:lnTo>
                    <a:pt x="3121697" y="538815"/>
                  </a:lnTo>
                  <a:lnTo>
                    <a:pt x="3178321" y="539486"/>
                  </a:lnTo>
                  <a:lnTo>
                    <a:pt x="3234752" y="540130"/>
                  </a:lnTo>
                  <a:lnTo>
                    <a:pt x="3290959" y="540748"/>
                  </a:lnTo>
                  <a:lnTo>
                    <a:pt x="3346911" y="541341"/>
                  </a:lnTo>
                  <a:lnTo>
                    <a:pt x="3402578" y="541907"/>
                  </a:lnTo>
                  <a:lnTo>
                    <a:pt x="3457927" y="542449"/>
                  </a:lnTo>
                  <a:lnTo>
                    <a:pt x="3512928" y="542965"/>
                  </a:lnTo>
                  <a:lnTo>
                    <a:pt x="3567551" y="543457"/>
                  </a:lnTo>
                  <a:lnTo>
                    <a:pt x="3621763" y="543924"/>
                  </a:lnTo>
                  <a:lnTo>
                    <a:pt x="3675534" y="544367"/>
                  </a:lnTo>
                  <a:lnTo>
                    <a:pt x="3728833" y="544787"/>
                  </a:lnTo>
                  <a:lnTo>
                    <a:pt x="3781629" y="545183"/>
                  </a:lnTo>
                  <a:lnTo>
                    <a:pt x="3833891" y="545556"/>
                  </a:lnTo>
                  <a:lnTo>
                    <a:pt x="3885587" y="545906"/>
                  </a:lnTo>
                  <a:lnTo>
                    <a:pt x="3936687" y="546234"/>
                  </a:lnTo>
                  <a:lnTo>
                    <a:pt x="3987160" y="546540"/>
                  </a:lnTo>
                  <a:lnTo>
                    <a:pt x="4036974" y="546823"/>
                  </a:lnTo>
                  <a:lnTo>
                    <a:pt x="4089242" y="547104"/>
                  </a:lnTo>
                  <a:lnTo>
                    <a:pt x="4142045" y="547372"/>
                  </a:lnTo>
                  <a:lnTo>
                    <a:pt x="4195351" y="547627"/>
                  </a:lnTo>
                  <a:lnTo>
                    <a:pt x="4249128" y="547869"/>
                  </a:lnTo>
                  <a:lnTo>
                    <a:pt x="4303346" y="548095"/>
                  </a:lnTo>
                  <a:lnTo>
                    <a:pt x="4357972" y="548305"/>
                  </a:lnTo>
                  <a:lnTo>
                    <a:pt x="4412976" y="548497"/>
                  </a:lnTo>
                  <a:lnTo>
                    <a:pt x="4468325" y="548672"/>
                  </a:lnTo>
                  <a:lnTo>
                    <a:pt x="4523989" y="548828"/>
                  </a:lnTo>
                  <a:lnTo>
                    <a:pt x="4579935" y="548963"/>
                  </a:lnTo>
                  <a:lnTo>
                    <a:pt x="4636133" y="549078"/>
                  </a:lnTo>
                  <a:lnTo>
                    <a:pt x="4692551" y="549170"/>
                  </a:lnTo>
                  <a:lnTo>
                    <a:pt x="4749156" y="549239"/>
                  </a:lnTo>
                  <a:lnTo>
                    <a:pt x="4805919" y="549284"/>
                  </a:lnTo>
                  <a:lnTo>
                    <a:pt x="4862807" y="549304"/>
                  </a:lnTo>
                  <a:lnTo>
                    <a:pt x="4919790" y="549297"/>
                  </a:lnTo>
                  <a:lnTo>
                    <a:pt x="4976834" y="549264"/>
                  </a:lnTo>
                  <a:lnTo>
                    <a:pt x="5033910" y="549202"/>
                  </a:lnTo>
                  <a:lnTo>
                    <a:pt x="5090985" y="549111"/>
                  </a:lnTo>
                  <a:lnTo>
                    <a:pt x="5148028" y="548990"/>
                  </a:lnTo>
                  <a:lnTo>
                    <a:pt x="5205007" y="548837"/>
                  </a:lnTo>
                  <a:lnTo>
                    <a:pt x="5261892" y="548653"/>
                  </a:lnTo>
                  <a:lnTo>
                    <a:pt x="5318650" y="548435"/>
                  </a:lnTo>
                  <a:lnTo>
                    <a:pt x="5375250" y="548183"/>
                  </a:lnTo>
                  <a:lnTo>
                    <a:pt x="5431661" y="547895"/>
                  </a:lnTo>
                  <a:lnTo>
                    <a:pt x="5487851" y="547572"/>
                  </a:lnTo>
                  <a:lnTo>
                    <a:pt x="5543789" y="547211"/>
                  </a:lnTo>
                  <a:lnTo>
                    <a:pt x="5599443" y="546812"/>
                  </a:lnTo>
                  <a:lnTo>
                    <a:pt x="5654781" y="546373"/>
                  </a:lnTo>
                  <a:lnTo>
                    <a:pt x="5709773" y="545895"/>
                  </a:lnTo>
                  <a:lnTo>
                    <a:pt x="5764387" y="545375"/>
                  </a:lnTo>
                  <a:lnTo>
                    <a:pt x="5818590" y="544812"/>
                  </a:lnTo>
                  <a:lnTo>
                    <a:pt x="5872353" y="544207"/>
                  </a:lnTo>
                  <a:lnTo>
                    <a:pt x="5925643" y="543557"/>
                  </a:lnTo>
                  <a:lnTo>
                    <a:pt x="5978429" y="542862"/>
                  </a:lnTo>
                  <a:lnTo>
                    <a:pt x="6030679" y="542120"/>
                  </a:lnTo>
                  <a:lnTo>
                    <a:pt x="6082362" y="541331"/>
                  </a:lnTo>
                  <a:lnTo>
                    <a:pt x="6133447" y="540494"/>
                  </a:lnTo>
                  <a:lnTo>
                    <a:pt x="6183901" y="539607"/>
                  </a:lnTo>
                  <a:lnTo>
                    <a:pt x="6233694" y="538670"/>
                  </a:lnTo>
                  <a:lnTo>
                    <a:pt x="6282794" y="537682"/>
                  </a:lnTo>
                  <a:lnTo>
                    <a:pt x="6331170" y="536641"/>
                  </a:lnTo>
                  <a:lnTo>
                    <a:pt x="6378789" y="535547"/>
                  </a:lnTo>
                  <a:lnTo>
                    <a:pt x="6425621" y="534398"/>
                  </a:lnTo>
                  <a:lnTo>
                    <a:pt x="6471634" y="533194"/>
                  </a:lnTo>
                  <a:lnTo>
                    <a:pt x="6516797" y="531934"/>
                  </a:lnTo>
                  <a:lnTo>
                    <a:pt x="6561078" y="530616"/>
                  </a:lnTo>
                  <a:lnTo>
                    <a:pt x="6604445" y="529239"/>
                  </a:lnTo>
                  <a:lnTo>
                    <a:pt x="6646868" y="527804"/>
                  </a:lnTo>
                  <a:lnTo>
                    <a:pt x="6688314" y="526307"/>
                  </a:lnTo>
                  <a:lnTo>
                    <a:pt x="6728753" y="524750"/>
                  </a:lnTo>
                  <a:lnTo>
                    <a:pt x="6768152" y="523130"/>
                  </a:lnTo>
                  <a:lnTo>
                    <a:pt x="6806480" y="521446"/>
                  </a:lnTo>
                  <a:lnTo>
                    <a:pt x="6879799" y="517885"/>
                  </a:lnTo>
                  <a:lnTo>
                    <a:pt x="6948457" y="514057"/>
                  </a:lnTo>
                  <a:lnTo>
                    <a:pt x="7012203" y="509955"/>
                  </a:lnTo>
                  <a:lnTo>
                    <a:pt x="7118707" y="501548"/>
                  </a:lnTo>
                  <a:lnTo>
                    <a:pt x="7212955" y="492025"/>
                  </a:lnTo>
                  <a:lnTo>
                    <a:pt x="7295666" y="481486"/>
                  </a:lnTo>
                  <a:lnTo>
                    <a:pt x="7367561" y="470028"/>
                  </a:lnTo>
                  <a:lnTo>
                    <a:pt x="7429357" y="457750"/>
                  </a:lnTo>
                  <a:lnTo>
                    <a:pt x="7481775" y="444750"/>
                  </a:lnTo>
                  <a:lnTo>
                    <a:pt x="7525533" y="431126"/>
                  </a:lnTo>
                  <a:lnTo>
                    <a:pt x="7561351" y="416975"/>
                  </a:lnTo>
                  <a:lnTo>
                    <a:pt x="7612042" y="387490"/>
                  </a:lnTo>
                  <a:lnTo>
                    <a:pt x="7639603" y="357079"/>
                  </a:lnTo>
                  <a:lnTo>
                    <a:pt x="7650159" y="311444"/>
                  </a:lnTo>
                  <a:lnTo>
                    <a:pt x="7648346" y="296621"/>
                  </a:lnTo>
                  <a:lnTo>
                    <a:pt x="7646586" y="275146"/>
                  </a:lnTo>
                  <a:lnTo>
                    <a:pt x="7647394" y="253522"/>
                  </a:lnTo>
                  <a:lnTo>
                    <a:pt x="7648260" y="231971"/>
                  </a:lnTo>
                  <a:lnTo>
                    <a:pt x="7646676" y="210716"/>
                  </a:lnTo>
                  <a:lnTo>
                    <a:pt x="7626121" y="169985"/>
                  </a:lnTo>
                  <a:lnTo>
                    <a:pt x="7565661" y="133110"/>
                  </a:lnTo>
                  <a:lnTo>
                    <a:pt x="7514195" y="116675"/>
                  </a:lnTo>
                  <a:lnTo>
                    <a:pt x="7445226" y="101873"/>
                  </a:lnTo>
                  <a:lnTo>
                    <a:pt x="7356246" y="88925"/>
                  </a:lnTo>
                  <a:lnTo>
                    <a:pt x="7295385" y="82443"/>
                  </a:lnTo>
                  <a:lnTo>
                    <a:pt x="7228536" y="76784"/>
                  </a:lnTo>
                  <a:lnTo>
                    <a:pt x="7155985" y="71872"/>
                  </a:lnTo>
                  <a:lnTo>
                    <a:pt x="7117660" y="69673"/>
                  </a:lnTo>
                  <a:lnTo>
                    <a:pt x="7078016" y="67633"/>
                  </a:lnTo>
                  <a:lnTo>
                    <a:pt x="7037089" y="65742"/>
                  </a:lnTo>
                  <a:lnTo>
                    <a:pt x="6994915" y="63991"/>
                  </a:lnTo>
                  <a:lnTo>
                    <a:pt x="6951529" y="62371"/>
                  </a:lnTo>
                  <a:lnTo>
                    <a:pt x="6906967" y="60873"/>
                  </a:lnTo>
                  <a:lnTo>
                    <a:pt x="6861265" y="59486"/>
                  </a:lnTo>
                  <a:lnTo>
                    <a:pt x="6814458" y="58202"/>
                  </a:lnTo>
                  <a:lnTo>
                    <a:pt x="6766581" y="57011"/>
                  </a:lnTo>
                  <a:lnTo>
                    <a:pt x="6717672" y="55904"/>
                  </a:lnTo>
                  <a:lnTo>
                    <a:pt x="6667765" y="54871"/>
                  </a:lnTo>
                  <a:lnTo>
                    <a:pt x="6616895" y="53904"/>
                  </a:lnTo>
                  <a:lnTo>
                    <a:pt x="6565099" y="52992"/>
                  </a:lnTo>
                  <a:lnTo>
                    <a:pt x="6512413" y="52126"/>
                  </a:lnTo>
                  <a:lnTo>
                    <a:pt x="6458871" y="51298"/>
                  </a:lnTo>
                  <a:lnTo>
                    <a:pt x="6404510" y="50497"/>
                  </a:lnTo>
                  <a:lnTo>
                    <a:pt x="6349365" y="49714"/>
                  </a:lnTo>
                  <a:lnTo>
                    <a:pt x="6293472" y="48941"/>
                  </a:lnTo>
                  <a:lnTo>
                    <a:pt x="6236867" y="48167"/>
                  </a:lnTo>
                  <a:lnTo>
                    <a:pt x="6179585" y="47382"/>
                  </a:lnTo>
                  <a:lnTo>
                    <a:pt x="6121661" y="46579"/>
                  </a:lnTo>
                  <a:lnTo>
                    <a:pt x="6063132" y="45747"/>
                  </a:lnTo>
                  <a:lnTo>
                    <a:pt x="6004034" y="44877"/>
                  </a:lnTo>
                  <a:lnTo>
                    <a:pt x="5944401" y="43960"/>
                  </a:lnTo>
                  <a:lnTo>
                    <a:pt x="5884270" y="42986"/>
                  </a:lnTo>
                  <a:lnTo>
                    <a:pt x="5823676" y="41946"/>
                  </a:lnTo>
                  <a:lnTo>
                    <a:pt x="5762654" y="40831"/>
                  </a:lnTo>
                  <a:lnTo>
                    <a:pt x="5701242" y="39631"/>
                  </a:lnTo>
                  <a:lnTo>
                    <a:pt x="5639473" y="38336"/>
                  </a:lnTo>
                  <a:lnTo>
                    <a:pt x="5577384" y="36938"/>
                  </a:lnTo>
                  <a:lnTo>
                    <a:pt x="5515011" y="35427"/>
                  </a:lnTo>
                  <a:lnTo>
                    <a:pt x="5452389" y="33794"/>
                  </a:lnTo>
                  <a:lnTo>
                    <a:pt x="5410047" y="32677"/>
                  </a:lnTo>
                  <a:lnTo>
                    <a:pt x="5366694" y="31588"/>
                  </a:lnTo>
                  <a:lnTo>
                    <a:pt x="5322368" y="30527"/>
                  </a:lnTo>
                  <a:lnTo>
                    <a:pt x="5277109" y="29493"/>
                  </a:lnTo>
                  <a:lnTo>
                    <a:pt x="5230957" y="28485"/>
                  </a:lnTo>
                  <a:lnTo>
                    <a:pt x="5183950" y="27504"/>
                  </a:lnTo>
                  <a:lnTo>
                    <a:pt x="5136128" y="26549"/>
                  </a:lnTo>
                  <a:lnTo>
                    <a:pt x="5087530" y="25619"/>
                  </a:lnTo>
                  <a:lnTo>
                    <a:pt x="5038195" y="24713"/>
                  </a:lnTo>
                  <a:lnTo>
                    <a:pt x="4988163" y="23832"/>
                  </a:lnTo>
                  <a:lnTo>
                    <a:pt x="4937473" y="22974"/>
                  </a:lnTo>
                  <a:lnTo>
                    <a:pt x="4886163" y="22140"/>
                  </a:lnTo>
                  <a:lnTo>
                    <a:pt x="4834274" y="21327"/>
                  </a:lnTo>
                  <a:lnTo>
                    <a:pt x="4781844" y="20537"/>
                  </a:lnTo>
                  <a:lnTo>
                    <a:pt x="4728913" y="19769"/>
                  </a:lnTo>
                  <a:lnTo>
                    <a:pt x="4675520" y="19021"/>
                  </a:lnTo>
                  <a:lnTo>
                    <a:pt x="4621704" y="18294"/>
                  </a:lnTo>
                  <a:lnTo>
                    <a:pt x="4567504" y="17587"/>
                  </a:lnTo>
                  <a:lnTo>
                    <a:pt x="4512960" y="16899"/>
                  </a:lnTo>
                  <a:lnTo>
                    <a:pt x="4458112" y="16230"/>
                  </a:lnTo>
                  <a:lnTo>
                    <a:pt x="4402997" y="15580"/>
                  </a:lnTo>
                  <a:lnTo>
                    <a:pt x="4347656" y="14947"/>
                  </a:lnTo>
                  <a:lnTo>
                    <a:pt x="4292127" y="14332"/>
                  </a:lnTo>
                  <a:lnTo>
                    <a:pt x="4236451" y="13733"/>
                  </a:lnTo>
                  <a:lnTo>
                    <a:pt x="4180665" y="13151"/>
                  </a:lnTo>
                  <a:lnTo>
                    <a:pt x="4124810" y="12585"/>
                  </a:lnTo>
                  <a:lnTo>
                    <a:pt x="4068925" y="12034"/>
                  </a:lnTo>
                  <a:lnTo>
                    <a:pt x="4013049" y="11497"/>
                  </a:lnTo>
                  <a:lnTo>
                    <a:pt x="3957221" y="10975"/>
                  </a:lnTo>
                  <a:lnTo>
                    <a:pt x="3901480" y="10466"/>
                  </a:lnTo>
                  <a:lnTo>
                    <a:pt x="3845865" y="9971"/>
                  </a:lnTo>
                  <a:lnTo>
                    <a:pt x="3790417" y="9488"/>
                  </a:lnTo>
                  <a:lnTo>
                    <a:pt x="3735174" y="9018"/>
                  </a:lnTo>
                  <a:lnTo>
                    <a:pt x="3680175" y="8559"/>
                  </a:lnTo>
                  <a:lnTo>
                    <a:pt x="3625460" y="8111"/>
                  </a:lnTo>
                  <a:lnTo>
                    <a:pt x="3571068" y="7673"/>
                  </a:lnTo>
                  <a:lnTo>
                    <a:pt x="3517038" y="7246"/>
                  </a:lnTo>
                  <a:lnTo>
                    <a:pt x="3463409" y="6828"/>
                  </a:lnTo>
                  <a:lnTo>
                    <a:pt x="3410221" y="6419"/>
                  </a:lnTo>
                  <a:lnTo>
                    <a:pt x="3357512" y="6019"/>
                  </a:lnTo>
                  <a:lnTo>
                    <a:pt x="3305323" y="5626"/>
                  </a:lnTo>
                  <a:lnTo>
                    <a:pt x="3253692" y="5241"/>
                  </a:lnTo>
                  <a:lnTo>
                    <a:pt x="3202659" y="4863"/>
                  </a:lnTo>
                  <a:lnTo>
                    <a:pt x="3152263" y="4491"/>
                  </a:lnTo>
                  <a:lnTo>
                    <a:pt x="3102542" y="4125"/>
                  </a:lnTo>
                  <a:lnTo>
                    <a:pt x="3053537" y="3764"/>
                  </a:lnTo>
                  <a:lnTo>
                    <a:pt x="3005287" y="3408"/>
                  </a:lnTo>
                  <a:lnTo>
                    <a:pt x="2957830" y="3057"/>
                  </a:lnTo>
                  <a:lnTo>
                    <a:pt x="2911207" y="2709"/>
                  </a:lnTo>
                  <a:lnTo>
                    <a:pt x="2865455" y="2365"/>
                  </a:lnTo>
                  <a:lnTo>
                    <a:pt x="2820616" y="2023"/>
                  </a:lnTo>
                  <a:lnTo>
                    <a:pt x="2776727" y="1683"/>
                  </a:lnTo>
                  <a:lnTo>
                    <a:pt x="2733828" y="1345"/>
                  </a:lnTo>
                  <a:lnTo>
                    <a:pt x="2691958" y="1008"/>
                  </a:lnTo>
                  <a:lnTo>
                    <a:pt x="2651157" y="672"/>
                  </a:lnTo>
                  <a:lnTo>
                    <a:pt x="2611464" y="336"/>
                  </a:lnTo>
                  <a:lnTo>
                    <a:pt x="2572918" y="0"/>
                  </a:lnTo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/>
          <p:nvPr/>
        </p:nvSpPr>
        <p:spPr>
          <a:xfrm>
            <a:off x="3500246" y="3490721"/>
            <a:ext cx="2518410" cy="500380"/>
          </a:xfrm>
          <a:custGeom>
            <a:avLst/>
            <a:gdLst/>
            <a:ahLst/>
            <a:cxnLst/>
            <a:rect l="l" t="t" r="r" b="b"/>
            <a:pathLst>
              <a:path w="2518410" h="500379">
                <a:moveTo>
                  <a:pt x="2493376" y="452373"/>
                </a:moveTo>
                <a:lnTo>
                  <a:pt x="2403982" y="452373"/>
                </a:lnTo>
                <a:lnTo>
                  <a:pt x="2403984" y="452535"/>
                </a:lnTo>
                <a:lnTo>
                  <a:pt x="2404110" y="471423"/>
                </a:lnTo>
                <a:lnTo>
                  <a:pt x="2391629" y="471581"/>
                </a:lnTo>
                <a:lnTo>
                  <a:pt x="2392299" y="500252"/>
                </a:lnTo>
                <a:lnTo>
                  <a:pt x="2518282" y="459231"/>
                </a:lnTo>
                <a:lnTo>
                  <a:pt x="2493376" y="452373"/>
                </a:lnTo>
                <a:close/>
              </a:path>
              <a:path w="2518410" h="500379">
                <a:moveTo>
                  <a:pt x="0" y="0"/>
                </a:moveTo>
                <a:lnTo>
                  <a:pt x="0" y="19050"/>
                </a:lnTo>
                <a:lnTo>
                  <a:pt x="349885" y="21208"/>
                </a:lnTo>
                <a:lnTo>
                  <a:pt x="550672" y="26288"/>
                </a:lnTo>
                <a:lnTo>
                  <a:pt x="614933" y="29082"/>
                </a:lnTo>
                <a:lnTo>
                  <a:pt x="677544" y="32512"/>
                </a:lnTo>
                <a:lnTo>
                  <a:pt x="738504" y="36702"/>
                </a:lnTo>
                <a:lnTo>
                  <a:pt x="797432" y="41782"/>
                </a:lnTo>
                <a:lnTo>
                  <a:pt x="854328" y="47625"/>
                </a:lnTo>
                <a:lnTo>
                  <a:pt x="908685" y="54482"/>
                </a:lnTo>
                <a:lnTo>
                  <a:pt x="960754" y="62356"/>
                </a:lnTo>
                <a:lnTo>
                  <a:pt x="1010030" y="71374"/>
                </a:lnTo>
                <a:lnTo>
                  <a:pt x="1056131" y="81787"/>
                </a:lnTo>
                <a:lnTo>
                  <a:pt x="1098803" y="94106"/>
                </a:lnTo>
                <a:lnTo>
                  <a:pt x="1138554" y="108076"/>
                </a:lnTo>
                <a:lnTo>
                  <a:pt x="1175512" y="123189"/>
                </a:lnTo>
                <a:lnTo>
                  <a:pt x="1210437" y="139572"/>
                </a:lnTo>
                <a:lnTo>
                  <a:pt x="1274826" y="174625"/>
                </a:lnTo>
                <a:lnTo>
                  <a:pt x="1390903" y="247776"/>
                </a:lnTo>
                <a:lnTo>
                  <a:pt x="1419225" y="265302"/>
                </a:lnTo>
                <a:lnTo>
                  <a:pt x="1477644" y="298069"/>
                </a:lnTo>
                <a:lnTo>
                  <a:pt x="1540382" y="325627"/>
                </a:lnTo>
                <a:lnTo>
                  <a:pt x="1605152" y="348488"/>
                </a:lnTo>
                <a:lnTo>
                  <a:pt x="1669414" y="369315"/>
                </a:lnTo>
                <a:lnTo>
                  <a:pt x="1733168" y="387984"/>
                </a:lnTo>
                <a:lnTo>
                  <a:pt x="1796414" y="404748"/>
                </a:lnTo>
                <a:lnTo>
                  <a:pt x="1859152" y="419607"/>
                </a:lnTo>
                <a:lnTo>
                  <a:pt x="1921382" y="432561"/>
                </a:lnTo>
                <a:lnTo>
                  <a:pt x="1983358" y="443864"/>
                </a:lnTo>
                <a:lnTo>
                  <a:pt x="2044700" y="453644"/>
                </a:lnTo>
                <a:lnTo>
                  <a:pt x="2105660" y="461263"/>
                </a:lnTo>
                <a:lnTo>
                  <a:pt x="2165857" y="466725"/>
                </a:lnTo>
                <a:lnTo>
                  <a:pt x="2225548" y="470026"/>
                </a:lnTo>
                <a:lnTo>
                  <a:pt x="2284729" y="471804"/>
                </a:lnTo>
                <a:lnTo>
                  <a:pt x="2343657" y="472185"/>
                </a:lnTo>
                <a:lnTo>
                  <a:pt x="2391629" y="471581"/>
                </a:lnTo>
                <a:lnTo>
                  <a:pt x="2391516" y="466725"/>
                </a:lnTo>
                <a:lnTo>
                  <a:pt x="2391460" y="464311"/>
                </a:lnTo>
                <a:lnTo>
                  <a:pt x="2391341" y="459231"/>
                </a:lnTo>
                <a:lnTo>
                  <a:pt x="2391309" y="457834"/>
                </a:lnTo>
                <a:lnTo>
                  <a:pt x="2391199" y="453135"/>
                </a:lnTo>
                <a:lnTo>
                  <a:pt x="2343785" y="453135"/>
                </a:lnTo>
                <a:lnTo>
                  <a:pt x="2285365" y="452754"/>
                </a:lnTo>
                <a:lnTo>
                  <a:pt x="2226564" y="450976"/>
                </a:lnTo>
                <a:lnTo>
                  <a:pt x="2167381" y="447675"/>
                </a:lnTo>
                <a:lnTo>
                  <a:pt x="2107818" y="442467"/>
                </a:lnTo>
                <a:lnTo>
                  <a:pt x="2047620" y="434847"/>
                </a:lnTo>
                <a:lnTo>
                  <a:pt x="1986661" y="425195"/>
                </a:lnTo>
                <a:lnTo>
                  <a:pt x="1925319" y="414019"/>
                </a:lnTo>
                <a:lnTo>
                  <a:pt x="1863598" y="401065"/>
                </a:lnTo>
                <a:lnTo>
                  <a:pt x="1801240" y="386333"/>
                </a:lnTo>
                <a:lnTo>
                  <a:pt x="1738502" y="369823"/>
                </a:lnTo>
                <a:lnTo>
                  <a:pt x="1675383" y="351154"/>
                </a:lnTo>
                <a:lnTo>
                  <a:pt x="1611502" y="330580"/>
                </a:lnTo>
                <a:lnTo>
                  <a:pt x="1547622" y="307975"/>
                </a:lnTo>
                <a:lnTo>
                  <a:pt x="1486662" y="281304"/>
                </a:lnTo>
                <a:lnTo>
                  <a:pt x="1429257" y="249173"/>
                </a:lnTo>
                <a:lnTo>
                  <a:pt x="1314703" y="176529"/>
                </a:lnTo>
                <a:lnTo>
                  <a:pt x="1284224" y="157987"/>
                </a:lnTo>
                <a:lnTo>
                  <a:pt x="1218691" y="122427"/>
                </a:lnTo>
                <a:lnTo>
                  <a:pt x="1183004" y="105790"/>
                </a:lnTo>
                <a:lnTo>
                  <a:pt x="1145031" y="90042"/>
                </a:lnTo>
                <a:lnTo>
                  <a:pt x="1104391" y="75945"/>
                </a:lnTo>
                <a:lnTo>
                  <a:pt x="1060577" y="63373"/>
                </a:lnTo>
                <a:lnTo>
                  <a:pt x="1013587" y="52704"/>
                </a:lnTo>
                <a:lnTo>
                  <a:pt x="963676" y="43561"/>
                </a:lnTo>
                <a:lnTo>
                  <a:pt x="911098" y="35560"/>
                </a:lnTo>
                <a:lnTo>
                  <a:pt x="856233" y="28701"/>
                </a:lnTo>
                <a:lnTo>
                  <a:pt x="798956" y="22860"/>
                </a:lnTo>
                <a:lnTo>
                  <a:pt x="739775" y="17779"/>
                </a:lnTo>
                <a:lnTo>
                  <a:pt x="678561" y="13588"/>
                </a:lnTo>
                <a:lnTo>
                  <a:pt x="551179" y="7238"/>
                </a:lnTo>
                <a:lnTo>
                  <a:pt x="350138" y="2158"/>
                </a:lnTo>
                <a:lnTo>
                  <a:pt x="0" y="0"/>
                </a:lnTo>
                <a:close/>
              </a:path>
              <a:path w="2518410" h="500379">
                <a:moveTo>
                  <a:pt x="2403982" y="452373"/>
                </a:moveTo>
                <a:lnTo>
                  <a:pt x="2391185" y="452535"/>
                </a:lnTo>
                <a:lnTo>
                  <a:pt x="2391309" y="457834"/>
                </a:lnTo>
                <a:lnTo>
                  <a:pt x="2391341" y="459231"/>
                </a:lnTo>
                <a:lnTo>
                  <a:pt x="2391460" y="464311"/>
                </a:lnTo>
                <a:lnTo>
                  <a:pt x="2391516" y="466725"/>
                </a:lnTo>
                <a:lnTo>
                  <a:pt x="2391629" y="471581"/>
                </a:lnTo>
                <a:lnTo>
                  <a:pt x="2404110" y="471423"/>
                </a:lnTo>
                <a:lnTo>
                  <a:pt x="2403984" y="452535"/>
                </a:lnTo>
                <a:lnTo>
                  <a:pt x="2403982" y="452373"/>
                </a:lnTo>
                <a:close/>
              </a:path>
              <a:path w="2518410" h="500379">
                <a:moveTo>
                  <a:pt x="2391185" y="452535"/>
                </a:moveTo>
                <a:lnTo>
                  <a:pt x="2343785" y="453135"/>
                </a:lnTo>
                <a:lnTo>
                  <a:pt x="2391199" y="453135"/>
                </a:lnTo>
                <a:lnTo>
                  <a:pt x="2391185" y="452535"/>
                </a:lnTo>
                <a:close/>
              </a:path>
              <a:path w="2518410" h="500379">
                <a:moveTo>
                  <a:pt x="2390520" y="424052"/>
                </a:moveTo>
                <a:lnTo>
                  <a:pt x="2390719" y="432561"/>
                </a:lnTo>
                <a:lnTo>
                  <a:pt x="2390772" y="434847"/>
                </a:lnTo>
                <a:lnTo>
                  <a:pt x="2390867" y="438911"/>
                </a:lnTo>
                <a:lnTo>
                  <a:pt x="2390950" y="442467"/>
                </a:lnTo>
                <a:lnTo>
                  <a:pt x="2391072" y="447675"/>
                </a:lnTo>
                <a:lnTo>
                  <a:pt x="2391185" y="452535"/>
                </a:lnTo>
                <a:lnTo>
                  <a:pt x="2403982" y="452373"/>
                </a:lnTo>
                <a:lnTo>
                  <a:pt x="2493376" y="452373"/>
                </a:lnTo>
                <a:lnTo>
                  <a:pt x="2390520" y="4240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5481" y="60451"/>
            <a:ext cx="1647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EECE</a:t>
            </a:r>
            <a:r>
              <a:rPr sz="1000" spc="-15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3624</a:t>
            </a:r>
            <a:r>
              <a:rPr sz="1000" spc="-30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D1879"/>
                </a:solidFill>
                <a:latin typeface="Arial"/>
                <a:cs typeface="Arial"/>
              </a:rPr>
              <a:t>Microprocessors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85737"/>
            <a:ext cx="1917700" cy="4143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939" y="565785"/>
            <a:ext cx="14814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RAYMOND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B.</a:t>
            </a:r>
            <a:r>
              <a:rPr sz="1000" spc="-2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Candara"/>
                <a:cs typeface="Candara"/>
              </a:rPr>
              <a:t>JONES</a:t>
            </a:r>
            <a:endParaRPr sz="1000">
              <a:latin typeface="Candara"/>
              <a:cs typeface="Candara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COLLEGE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OF</a:t>
            </a:r>
            <a:r>
              <a:rPr sz="1000" spc="-4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Candara"/>
                <a:cs typeface="Candara"/>
              </a:rPr>
              <a:t>ENGINEERING</a:t>
            </a:r>
            <a:endParaRPr sz="1000">
              <a:latin typeface="Candara"/>
              <a:cs typeface="Candar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1067" y="47244"/>
            <a:ext cx="3592829" cy="111937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95"/>
              </a:spcBef>
            </a:pPr>
            <a:r>
              <a:rPr dirty="0"/>
              <a:t>Lab05</a:t>
            </a:r>
            <a:r>
              <a:rPr spc="-110" dirty="0"/>
              <a:t> </a:t>
            </a:r>
            <a:r>
              <a:rPr spc="-10" dirty="0"/>
              <a:t>Notes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35279" y="1043939"/>
            <a:ext cx="8315959" cy="5650230"/>
            <a:chOff x="335279" y="1043939"/>
            <a:chExt cx="8315959" cy="565023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279" y="1057655"/>
              <a:ext cx="639318" cy="7627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0559" y="1043939"/>
              <a:ext cx="6681978" cy="7871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5432" y="1043939"/>
              <a:ext cx="598157" cy="787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21651" y="1043939"/>
              <a:ext cx="1152905" cy="7871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0559" y="1424939"/>
              <a:ext cx="1904238" cy="7871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7691" y="1424939"/>
              <a:ext cx="598169" cy="7871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38756" y="1424939"/>
              <a:ext cx="5086350" cy="7871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1933955"/>
              <a:ext cx="515861" cy="6286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1852" y="1905000"/>
              <a:ext cx="6877050" cy="6774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2337815"/>
              <a:ext cx="515861" cy="6286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1852" y="2308859"/>
              <a:ext cx="6852666" cy="67741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2741675"/>
              <a:ext cx="515861" cy="6286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01852" y="2712719"/>
              <a:ext cx="7474458" cy="6774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3145535"/>
              <a:ext cx="515861" cy="6286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01852" y="3116579"/>
              <a:ext cx="6782561" cy="67741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3549395"/>
              <a:ext cx="515861" cy="6286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01852" y="3520439"/>
              <a:ext cx="7029450" cy="67741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3953255"/>
              <a:ext cx="515861" cy="6286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01852" y="3924300"/>
              <a:ext cx="3697986" cy="67741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96739" y="3924300"/>
              <a:ext cx="514350" cy="67741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07991" y="3924300"/>
              <a:ext cx="3022854" cy="67741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4357116"/>
              <a:ext cx="515861" cy="6286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01852" y="4328160"/>
              <a:ext cx="7549133" cy="67741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4760975"/>
              <a:ext cx="515861" cy="6286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01852" y="4732019"/>
              <a:ext cx="7267194" cy="67741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056" y="5164836"/>
              <a:ext cx="515861" cy="6286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01852" y="5135880"/>
              <a:ext cx="6755130" cy="67741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53884" y="5135880"/>
              <a:ext cx="779526" cy="67741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30311" y="5135880"/>
              <a:ext cx="514350" cy="67741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279" y="5539739"/>
              <a:ext cx="639318" cy="76276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70559" y="5526024"/>
              <a:ext cx="5930645" cy="78714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34100" y="5526024"/>
              <a:ext cx="1450086" cy="78714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347459" y="6022848"/>
              <a:ext cx="1023365" cy="6172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17079" y="5526024"/>
              <a:ext cx="598157" cy="78714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70559" y="5907024"/>
              <a:ext cx="1870710" cy="78714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83920" y="6403848"/>
              <a:ext cx="1443990" cy="6172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74163" y="5907024"/>
              <a:ext cx="1957577" cy="78714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64635" y="5907024"/>
              <a:ext cx="3359658" cy="78714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77995" y="6403848"/>
              <a:ext cx="2932938" cy="6172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457188" y="5907024"/>
              <a:ext cx="598157" cy="787146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535940" y="1134872"/>
            <a:ext cx="7912100" cy="53155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330" marR="517525" indent="-341630">
              <a:lnSpc>
                <a:spcPts val="3000"/>
              </a:lnSpc>
              <a:spcBef>
                <a:spcPts val="495"/>
              </a:spcBef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You</a:t>
            </a:r>
            <a:r>
              <a:rPr sz="2800" spc="-8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will</a:t>
            </a:r>
            <a:r>
              <a:rPr sz="2800" spc="-6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need</a:t>
            </a:r>
            <a:r>
              <a:rPr sz="2800" spc="-7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to</a:t>
            </a:r>
            <a:r>
              <a:rPr sz="2800" spc="-7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configure</a:t>
            </a:r>
            <a:r>
              <a:rPr sz="2800" spc="-7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several</a:t>
            </a:r>
            <a:r>
              <a:rPr sz="2800" spc="-6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port-</a:t>
            </a:r>
            <a:r>
              <a:rPr sz="2800" spc="-8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4D1879"/>
                </a:solidFill>
                <a:latin typeface="Trebuchet MS"/>
                <a:cs typeface="Trebuchet MS"/>
              </a:rPr>
              <a:t>and 	</a:t>
            </a:r>
            <a:r>
              <a:rPr sz="2800" spc="-10" dirty="0">
                <a:solidFill>
                  <a:srgbClr val="4D1879"/>
                </a:solidFill>
                <a:latin typeface="Trebuchet MS"/>
                <a:cs typeface="Trebuchet MS"/>
              </a:rPr>
              <a:t>interrupt-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related</a:t>
            </a:r>
            <a:r>
              <a:rPr sz="2800" spc="-6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registers</a:t>
            </a:r>
            <a:r>
              <a:rPr sz="2800" spc="-6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for</a:t>
            </a:r>
            <a:r>
              <a:rPr sz="2800" spc="-7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D1879"/>
                </a:solidFill>
                <a:latin typeface="Trebuchet MS"/>
                <a:cs typeface="Trebuchet MS"/>
              </a:rPr>
              <a:t>this</a:t>
            </a:r>
            <a:r>
              <a:rPr sz="28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D1879"/>
                </a:solidFill>
                <a:latin typeface="Trebuchet MS"/>
                <a:cs typeface="Trebuchet MS"/>
              </a:rPr>
              <a:t>lab:</a:t>
            </a:r>
            <a:endParaRPr sz="28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7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Set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INT1,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INT3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ISR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vectors</a:t>
            </a:r>
            <a:r>
              <a:rPr sz="24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(to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handle</a:t>
            </a:r>
            <a:r>
              <a:rPr sz="2400" spc="-2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D1879"/>
                </a:solidFill>
                <a:latin typeface="Trebuchet MS"/>
                <a:cs typeface="Trebuchet MS"/>
              </a:rPr>
              <a:t>up/down)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DDRA: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set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pin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7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as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an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output</a:t>
            </a:r>
            <a:r>
              <a:rPr sz="24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(the</a:t>
            </a:r>
            <a:r>
              <a:rPr sz="24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“BOOT”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D1879"/>
                </a:solidFill>
                <a:latin typeface="Trebuchet MS"/>
                <a:cs typeface="Trebuchet MS"/>
              </a:rPr>
              <a:t>LED)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0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DDRB: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set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pins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1</a:t>
            </a:r>
            <a:r>
              <a:rPr sz="24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and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3</a:t>
            </a:r>
            <a:r>
              <a:rPr sz="24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as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inputs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(up/down</a:t>
            </a:r>
            <a:r>
              <a:rPr sz="24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D1879"/>
                </a:solidFill>
                <a:latin typeface="Trebuchet MS"/>
                <a:cs typeface="Trebuchet MS"/>
              </a:rPr>
              <a:t>joystick)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DDRC: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set</a:t>
            </a:r>
            <a:r>
              <a:rPr sz="24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pins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3:0</a:t>
            </a:r>
            <a:r>
              <a:rPr sz="24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as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outputs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(blink</a:t>
            </a:r>
            <a:r>
              <a:rPr sz="24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rate</a:t>
            </a:r>
            <a:r>
              <a:rPr sz="24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D1879"/>
                </a:solidFill>
                <a:latin typeface="Trebuchet MS"/>
                <a:cs typeface="Trebuchet MS"/>
              </a:rPr>
              <a:t>LEDs)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0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DDRD: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set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pins</a:t>
            </a:r>
            <a:r>
              <a:rPr sz="24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1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and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3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as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inputs</a:t>
            </a:r>
            <a:r>
              <a:rPr sz="24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(to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trigger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D1879"/>
                </a:solidFill>
                <a:latin typeface="Trebuchet MS"/>
                <a:cs typeface="Trebuchet MS"/>
              </a:rPr>
              <a:t>ISRs)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PORTB:</a:t>
            </a:r>
            <a:r>
              <a:rPr sz="24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set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internal</a:t>
            </a:r>
            <a:r>
              <a:rPr sz="24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D1879"/>
                </a:solidFill>
                <a:latin typeface="Trebuchet MS"/>
                <a:cs typeface="Trebuchet MS"/>
              </a:rPr>
              <a:t>pull-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ups</a:t>
            </a:r>
            <a:r>
              <a:rPr sz="2400" spc="-1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on</a:t>
            </a:r>
            <a:r>
              <a:rPr sz="24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pins</a:t>
            </a:r>
            <a:r>
              <a:rPr sz="2400" spc="-3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1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and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3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EICRA: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set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INT1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and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INT3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to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activate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on</a:t>
            </a:r>
            <a:r>
              <a:rPr sz="2400" spc="-2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RISING</a:t>
            </a:r>
            <a:r>
              <a:rPr sz="2400" spc="-6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D1879"/>
                </a:solidFill>
                <a:latin typeface="Trebuchet MS"/>
                <a:cs typeface="Trebuchet MS"/>
              </a:rPr>
              <a:t>edge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EIMSK:</a:t>
            </a:r>
            <a:r>
              <a:rPr sz="2400" spc="-6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allow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INT1</a:t>
            </a:r>
            <a:r>
              <a:rPr sz="2400" spc="-7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and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INT3</a:t>
            </a:r>
            <a:r>
              <a:rPr sz="2400" spc="-7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generate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D1879"/>
                </a:solidFill>
                <a:latin typeface="Trebuchet MS"/>
                <a:cs typeface="Trebuchet MS"/>
              </a:rPr>
              <a:t>interrupts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SREG:</a:t>
            </a:r>
            <a:r>
              <a:rPr sz="2400" spc="-5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enable</a:t>
            </a:r>
            <a:r>
              <a:rPr sz="24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interrupts</a:t>
            </a:r>
            <a:r>
              <a:rPr sz="2400" spc="-4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globally</a:t>
            </a:r>
            <a:r>
              <a:rPr sz="2400" spc="-4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(set</a:t>
            </a:r>
            <a:r>
              <a:rPr sz="2400" spc="-5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bit</a:t>
            </a:r>
            <a:r>
              <a:rPr sz="2400" spc="-7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7</a:t>
            </a:r>
            <a:r>
              <a:rPr sz="2400" spc="-60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D1879"/>
                </a:solidFill>
                <a:latin typeface="Trebuchet MS"/>
                <a:cs typeface="Trebuchet MS"/>
              </a:rPr>
              <a:t>via</a:t>
            </a:r>
            <a:r>
              <a:rPr sz="2400" spc="-35" dirty="0">
                <a:solidFill>
                  <a:srgbClr val="4D1879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D1879"/>
                </a:solidFill>
                <a:latin typeface="Trebuchet MS"/>
                <a:cs typeface="Trebuchet MS"/>
              </a:rPr>
              <a:t>sei)</a:t>
            </a:r>
            <a:endParaRPr sz="2400">
              <a:latin typeface="Trebuchet MS"/>
              <a:cs typeface="Trebuchet MS"/>
            </a:endParaRPr>
          </a:p>
          <a:p>
            <a:pPr marL="354330" marR="970280" indent="-341630">
              <a:lnSpc>
                <a:spcPts val="3000"/>
              </a:lnSpc>
              <a:spcBef>
                <a:spcPts val="700"/>
              </a:spcBef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Read</a:t>
            </a:r>
            <a:r>
              <a:rPr sz="2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8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ATmega128A</a:t>
            </a:r>
            <a:r>
              <a:rPr sz="28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data</a:t>
            </a:r>
            <a:r>
              <a:rPr sz="28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sheet</a:t>
            </a:r>
            <a:r>
              <a:rPr sz="28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slowly</a:t>
            </a:r>
            <a:r>
              <a:rPr sz="2800" u="none" spc="-10" dirty="0">
                <a:solidFill>
                  <a:srgbClr val="FF0000"/>
                </a:solidFill>
                <a:latin typeface="Trebuchet MS"/>
                <a:cs typeface="Trebuchet MS"/>
              </a:rPr>
              <a:t>, 	</a:t>
            </a:r>
            <a:r>
              <a:rPr sz="28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carefully</a:t>
            </a:r>
            <a:r>
              <a:rPr sz="2800" u="none" dirty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2800" u="none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u="none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2800" u="none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u="none" dirty="0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2800" u="none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full</a:t>
            </a:r>
            <a:r>
              <a:rPr sz="2800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understanding</a:t>
            </a:r>
            <a:r>
              <a:rPr sz="2800" u="none" spc="-10" dirty="0">
                <a:solidFill>
                  <a:srgbClr val="FF0000"/>
                </a:solidFill>
                <a:latin typeface="Trebuchet MS"/>
                <a:cs typeface="Trebuchet MS"/>
              </a:rPr>
              <a:t>!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5481" y="60451"/>
            <a:ext cx="1647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EECE</a:t>
            </a:r>
            <a:r>
              <a:rPr sz="1000" spc="-15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3624</a:t>
            </a:r>
            <a:r>
              <a:rPr sz="1000" spc="-30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D1879"/>
                </a:solidFill>
                <a:latin typeface="Arial"/>
                <a:cs typeface="Arial"/>
              </a:rPr>
              <a:t>Microprocessors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85737"/>
            <a:ext cx="1917700" cy="4143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939" y="565785"/>
            <a:ext cx="14814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RAYMOND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B.</a:t>
            </a:r>
            <a:r>
              <a:rPr sz="1000" spc="-2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Candara"/>
                <a:cs typeface="Candara"/>
              </a:rPr>
              <a:t>JONES</a:t>
            </a:r>
            <a:endParaRPr sz="1000">
              <a:latin typeface="Candara"/>
              <a:cs typeface="Candara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COLLEGE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OF</a:t>
            </a:r>
            <a:r>
              <a:rPr sz="1000" spc="-4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Candara"/>
                <a:cs typeface="Candara"/>
              </a:rPr>
              <a:t>ENGINEERING</a:t>
            </a:r>
            <a:endParaRPr sz="1000">
              <a:latin typeface="Candara"/>
              <a:cs typeface="Candar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5767" y="47244"/>
            <a:ext cx="4126229" cy="111937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Switch</a:t>
            </a:r>
            <a:r>
              <a:rPr spc="-114" dirty="0"/>
              <a:t> </a:t>
            </a:r>
            <a:r>
              <a:rPr spc="-10" dirty="0"/>
              <a:t>Bounce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1142" y="2008073"/>
            <a:ext cx="183197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77777"/>
                </a:solidFill>
                <a:latin typeface="Trebuchet MS"/>
                <a:cs typeface="Trebuchet MS"/>
              </a:rPr>
              <a:t>Simple</a:t>
            </a:r>
            <a:r>
              <a:rPr sz="1800" spc="-55" dirty="0">
                <a:solidFill>
                  <a:srgbClr val="777777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77777"/>
                </a:solidFill>
                <a:latin typeface="Trebuchet MS"/>
                <a:cs typeface="Trebuchet MS"/>
              </a:rPr>
              <a:t>active</a:t>
            </a:r>
            <a:r>
              <a:rPr sz="1800" spc="-35" dirty="0">
                <a:solidFill>
                  <a:srgbClr val="777777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777777"/>
                </a:solidFill>
                <a:latin typeface="Trebuchet MS"/>
                <a:cs typeface="Trebuchet MS"/>
              </a:rPr>
              <a:t>low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777777"/>
                </a:solidFill>
                <a:latin typeface="Trebuchet MS"/>
                <a:cs typeface="Trebuchet MS"/>
              </a:rPr>
              <a:t>switch</a:t>
            </a:r>
            <a:r>
              <a:rPr sz="1800" spc="-35" dirty="0">
                <a:solidFill>
                  <a:srgbClr val="777777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777777"/>
                </a:solidFill>
                <a:latin typeface="Trebuchet MS"/>
                <a:cs typeface="Trebuchet MS"/>
              </a:rPr>
              <a:t>circuit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0183" y="4112713"/>
            <a:ext cx="3797426" cy="26669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32375" y="1343786"/>
            <a:ext cx="3785361" cy="2667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34380" y="2955163"/>
            <a:ext cx="7200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Switch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Pressed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89550" y="4686427"/>
            <a:ext cx="8089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Switch Released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3004" y="2667000"/>
            <a:ext cx="4229227" cy="214172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40889" y="3661917"/>
            <a:ext cx="1321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(N.O.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pushbutton)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5481" y="60451"/>
            <a:ext cx="1647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EECE</a:t>
            </a:r>
            <a:r>
              <a:rPr sz="1000" spc="-15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D1879"/>
                </a:solidFill>
                <a:latin typeface="Arial"/>
                <a:cs typeface="Arial"/>
              </a:rPr>
              <a:t>3624</a:t>
            </a:r>
            <a:r>
              <a:rPr sz="1000" spc="-30" dirty="0">
                <a:solidFill>
                  <a:srgbClr val="4D1879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D1879"/>
                </a:solidFill>
                <a:latin typeface="Arial"/>
                <a:cs typeface="Arial"/>
              </a:rPr>
              <a:t>Microprocessors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85737"/>
            <a:ext cx="1917700" cy="4143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939" y="565785"/>
            <a:ext cx="14814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RAYMOND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B.</a:t>
            </a:r>
            <a:r>
              <a:rPr sz="1000" spc="-2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Candara"/>
                <a:cs typeface="Candara"/>
              </a:rPr>
              <a:t>JONES</a:t>
            </a:r>
            <a:endParaRPr sz="1000">
              <a:latin typeface="Candara"/>
              <a:cs typeface="Candara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COLLEGE</a:t>
            </a:r>
            <a:r>
              <a:rPr sz="1000" spc="-30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dirty="0">
                <a:solidFill>
                  <a:srgbClr val="333333"/>
                </a:solidFill>
                <a:latin typeface="Candara"/>
                <a:cs typeface="Candara"/>
              </a:rPr>
              <a:t>OF</a:t>
            </a:r>
            <a:r>
              <a:rPr sz="1000" spc="-45" dirty="0">
                <a:solidFill>
                  <a:srgbClr val="333333"/>
                </a:solidFill>
                <a:latin typeface="Candara"/>
                <a:cs typeface="Candara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Candara"/>
                <a:cs typeface="Candara"/>
              </a:rPr>
              <a:t>ENGINEERING</a:t>
            </a:r>
            <a:endParaRPr sz="1000">
              <a:latin typeface="Candara"/>
              <a:cs typeface="Candar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72283" y="47244"/>
            <a:ext cx="5926455" cy="1119505"/>
            <a:chOff x="2272283" y="47244"/>
            <a:chExt cx="5926455" cy="111950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2283" y="47244"/>
              <a:ext cx="3161538" cy="11193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1644" y="47244"/>
              <a:ext cx="3426713" cy="111937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574417" y="183261"/>
            <a:ext cx="5290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RC</a:t>
            </a:r>
            <a:r>
              <a:rPr spc="-100" dirty="0"/>
              <a:t> </a:t>
            </a:r>
            <a:r>
              <a:rPr dirty="0"/>
              <a:t>Switch</a:t>
            </a:r>
            <a:r>
              <a:rPr spc="-65" dirty="0"/>
              <a:t> </a:t>
            </a:r>
            <a:r>
              <a:rPr spc="-10" dirty="0"/>
              <a:t>Debouncing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6908" y="2572639"/>
            <a:ext cx="4228846" cy="227698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24400" y="2286000"/>
            <a:ext cx="4353052" cy="26090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74790" y="2947492"/>
            <a:ext cx="72009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Switch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Pressed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64373" y="2966466"/>
            <a:ext cx="8083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Switch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Released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9630" y="3832605"/>
            <a:ext cx="1321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(N.O.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pushbutton)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6830" y="1855673"/>
            <a:ext cx="192786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77777"/>
                </a:solidFill>
                <a:latin typeface="Trebuchet MS"/>
                <a:cs typeface="Trebuchet MS"/>
              </a:rPr>
              <a:t>Simple</a:t>
            </a:r>
            <a:r>
              <a:rPr sz="1800" spc="-55" dirty="0">
                <a:solidFill>
                  <a:srgbClr val="777777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77777"/>
                </a:solidFill>
                <a:latin typeface="Trebuchet MS"/>
                <a:cs typeface="Trebuchet MS"/>
              </a:rPr>
              <a:t>active</a:t>
            </a:r>
            <a:r>
              <a:rPr sz="1800" spc="-35" dirty="0">
                <a:solidFill>
                  <a:srgbClr val="777777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777777"/>
                </a:solidFill>
                <a:latin typeface="Trebuchet MS"/>
                <a:cs typeface="Trebuchet MS"/>
              </a:rPr>
              <a:t>low </a:t>
            </a:r>
            <a:r>
              <a:rPr sz="1800" dirty="0">
                <a:solidFill>
                  <a:srgbClr val="777777"/>
                </a:solidFill>
                <a:latin typeface="Trebuchet MS"/>
                <a:cs typeface="Trebuchet MS"/>
              </a:rPr>
              <a:t>switch</a:t>
            </a:r>
            <a:r>
              <a:rPr sz="1800" spc="-60" dirty="0">
                <a:solidFill>
                  <a:srgbClr val="777777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77777"/>
                </a:solidFill>
                <a:latin typeface="Trebuchet MS"/>
                <a:cs typeface="Trebuchet MS"/>
              </a:rPr>
              <a:t>circuit</a:t>
            </a:r>
            <a:r>
              <a:rPr sz="1800" spc="-40" dirty="0">
                <a:solidFill>
                  <a:srgbClr val="777777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77777"/>
                </a:solidFill>
                <a:latin typeface="Trebuchet MS"/>
                <a:cs typeface="Trebuchet MS"/>
              </a:rPr>
              <a:t>with </a:t>
            </a:r>
            <a:r>
              <a:rPr sz="1800" dirty="0">
                <a:solidFill>
                  <a:srgbClr val="777777"/>
                </a:solidFill>
                <a:latin typeface="Trebuchet MS"/>
                <a:cs typeface="Trebuchet MS"/>
              </a:rPr>
              <a:t>RC</a:t>
            </a:r>
            <a:r>
              <a:rPr sz="1800" spc="-35" dirty="0">
                <a:solidFill>
                  <a:srgbClr val="777777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777777"/>
                </a:solidFill>
                <a:latin typeface="Trebuchet MS"/>
                <a:cs typeface="Trebuchet MS"/>
              </a:rPr>
              <a:t>debouncing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5969" y="5144693"/>
            <a:ext cx="2702560" cy="1176655"/>
            <a:chOff x="975969" y="5144693"/>
            <a:chExt cx="2702560" cy="1176655"/>
          </a:xfrm>
        </p:grpSpPr>
        <p:sp>
          <p:nvSpPr>
            <p:cNvPr id="16" name="object 16"/>
            <p:cNvSpPr/>
            <p:nvPr/>
          </p:nvSpPr>
          <p:spPr>
            <a:xfrm>
              <a:off x="1001369" y="5170169"/>
              <a:ext cx="2677160" cy="1150620"/>
            </a:xfrm>
            <a:custGeom>
              <a:avLst/>
              <a:gdLst/>
              <a:ahLst/>
              <a:cxnLst/>
              <a:rect l="l" t="t" r="r" b="b"/>
              <a:pathLst>
                <a:path w="2677160" h="1150620">
                  <a:moveTo>
                    <a:pt x="2676550" y="2540"/>
                  </a:moveTo>
                  <a:lnTo>
                    <a:pt x="2675788" y="2540"/>
                  </a:lnTo>
                  <a:lnTo>
                    <a:pt x="2675788" y="0"/>
                  </a:lnTo>
                  <a:lnTo>
                    <a:pt x="2646324" y="0"/>
                  </a:lnTo>
                  <a:lnTo>
                    <a:pt x="2646324" y="2540"/>
                  </a:lnTo>
                  <a:lnTo>
                    <a:pt x="2646324" y="5080"/>
                  </a:lnTo>
                  <a:lnTo>
                    <a:pt x="2646324" y="8890"/>
                  </a:lnTo>
                  <a:lnTo>
                    <a:pt x="2646324" y="1120140"/>
                  </a:lnTo>
                  <a:lnTo>
                    <a:pt x="4762" y="1120140"/>
                  </a:lnTo>
                  <a:lnTo>
                    <a:pt x="4762" y="1120368"/>
                  </a:lnTo>
                  <a:lnTo>
                    <a:pt x="0" y="1120368"/>
                  </a:lnTo>
                  <a:lnTo>
                    <a:pt x="0" y="1140460"/>
                  </a:lnTo>
                  <a:lnTo>
                    <a:pt x="0" y="1148080"/>
                  </a:lnTo>
                  <a:lnTo>
                    <a:pt x="952" y="1148080"/>
                  </a:lnTo>
                  <a:lnTo>
                    <a:pt x="952" y="1150620"/>
                  </a:lnTo>
                  <a:lnTo>
                    <a:pt x="2675585" y="1150620"/>
                  </a:lnTo>
                  <a:lnTo>
                    <a:pt x="2675585" y="1148080"/>
                  </a:lnTo>
                  <a:lnTo>
                    <a:pt x="2676550" y="1148080"/>
                  </a:lnTo>
                  <a:lnTo>
                    <a:pt x="2676550" y="1140460"/>
                  </a:lnTo>
                  <a:lnTo>
                    <a:pt x="2676550" y="8890"/>
                  </a:lnTo>
                  <a:lnTo>
                    <a:pt x="2676550" y="2540"/>
                  </a:lnTo>
                  <a:close/>
                </a:path>
              </a:pathLst>
            </a:custGeom>
            <a:solidFill>
              <a:srgbClr val="3511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0732" y="5149456"/>
              <a:ext cx="2667000" cy="1141095"/>
            </a:xfrm>
            <a:custGeom>
              <a:avLst/>
              <a:gdLst/>
              <a:ahLst/>
              <a:cxnLst/>
              <a:rect l="l" t="t" r="r" b="b"/>
              <a:pathLst>
                <a:path w="2667000" h="1141095">
                  <a:moveTo>
                    <a:pt x="2667000" y="0"/>
                  </a:moveTo>
                  <a:lnTo>
                    <a:pt x="0" y="0"/>
                  </a:lnTo>
                  <a:lnTo>
                    <a:pt x="0" y="1141082"/>
                  </a:lnTo>
                  <a:lnTo>
                    <a:pt x="2667000" y="1141082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80732" y="5149456"/>
              <a:ext cx="2667000" cy="1141095"/>
            </a:xfrm>
            <a:custGeom>
              <a:avLst/>
              <a:gdLst/>
              <a:ahLst/>
              <a:cxnLst/>
              <a:rect l="l" t="t" r="r" b="b"/>
              <a:pathLst>
                <a:path w="2667000" h="1141095">
                  <a:moveTo>
                    <a:pt x="0" y="1141082"/>
                  </a:moveTo>
                  <a:lnTo>
                    <a:pt x="2667000" y="1141082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141082"/>
                  </a:lnTo>
                  <a:close/>
                </a:path>
              </a:pathLst>
            </a:custGeom>
            <a:ln w="9525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97785" y="6002426"/>
              <a:ext cx="231648" cy="27889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85494" y="5131689"/>
            <a:ext cx="265747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5𝜏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5(𝑅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×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𝐶)</a:t>
            </a:r>
            <a:endParaRPr sz="1800">
              <a:latin typeface="Cambria Math"/>
              <a:cs typeface="Cambria Math"/>
            </a:endParaRPr>
          </a:p>
          <a:p>
            <a:pPr marL="584835">
              <a:lnSpc>
                <a:spcPts val="2150"/>
              </a:lnSpc>
              <a:spcBef>
                <a:spcPts val="2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5(47𝑘Ω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×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100𝑛𝐹</a:t>
            </a:r>
            <a:r>
              <a:rPr sz="1800" spc="-1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593725">
              <a:lnSpc>
                <a:spcPts val="2150"/>
              </a:lnSpc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5(4.7𝑚𝑆)</a:t>
            </a:r>
            <a:endParaRPr sz="1800">
              <a:latin typeface="Cambria Math"/>
              <a:cs typeface="Cambria Math"/>
            </a:endParaRPr>
          </a:p>
          <a:p>
            <a:pPr marL="566420">
              <a:lnSpc>
                <a:spcPct val="100000"/>
              </a:lnSpc>
              <a:spcBef>
                <a:spcPts val="190"/>
              </a:spcBef>
              <a:tabLst>
                <a:tab pos="1790064" algn="l"/>
              </a:tabLst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23.5𝑚𝑆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spc="-20" dirty="0">
                <a:latin typeface="Cambria Math"/>
                <a:cs typeface="Cambria Math"/>
              </a:rPr>
              <a:t>25mS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99328" y="5876340"/>
            <a:ext cx="330327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*</a:t>
            </a:r>
            <a:r>
              <a:rPr sz="1400" spc="-25" dirty="0">
                <a:latin typeface="Arial"/>
                <a:cs typeface="Arial"/>
              </a:rPr>
              <a:t>You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the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ATmega128A’s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internal pull-</a:t>
            </a:r>
            <a:r>
              <a:rPr sz="1400" dirty="0">
                <a:latin typeface="Arial"/>
                <a:cs typeface="Arial"/>
              </a:rPr>
              <a:t>up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resistor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R2,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you’ll need</a:t>
            </a:r>
            <a:r>
              <a:rPr sz="1400" spc="-25" dirty="0">
                <a:latin typeface="Arial"/>
                <a:cs typeface="Arial"/>
              </a:rPr>
              <a:t> to </a:t>
            </a:r>
            <a:r>
              <a:rPr sz="1400" dirty="0">
                <a:latin typeface="Arial"/>
                <a:cs typeface="Arial"/>
              </a:rPr>
              <a:t>check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datasheet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discover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it’s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value.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99946" y="2949321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565</Words>
  <Application>Microsoft Office PowerPoint</Application>
  <PresentationFormat>On-screen Show (4:3)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Cambria Math</vt:lpstr>
      <vt:lpstr>Candara</vt:lpstr>
      <vt:lpstr>Trebuchet MS</vt:lpstr>
      <vt:lpstr>Wingdings</vt:lpstr>
      <vt:lpstr>Office Theme</vt:lpstr>
      <vt:lpstr>Lab05 Notes</vt:lpstr>
      <vt:lpstr>Lab05 Notes</vt:lpstr>
      <vt:lpstr>Lab05 Notes</vt:lpstr>
      <vt:lpstr>Lab05 Notes</vt:lpstr>
      <vt:lpstr>Switch Bounce</vt:lpstr>
      <vt:lpstr>RC Switch Debouncing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EECE3624 Week05</dc:title>
  <dc:creator>Greg Nordstrom</dc:creator>
  <cp:lastModifiedBy>Jose De Los Santos</cp:lastModifiedBy>
  <cp:revision>1</cp:revision>
  <dcterms:created xsi:type="dcterms:W3CDTF">2026-09-22T20:31:31Z</dcterms:created>
  <dcterms:modified xsi:type="dcterms:W3CDTF">2026-09-22T20:32:38Z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2026-09-22T00:00:00Z</vt:filetime>
  </property>
  <property fmtid="{D5CDD505-2E9C-101B-9397-08002B2CF9AE}" pid="5" name="Producer">
    <vt:lpwstr>Microsoft® PowerPoint® for Microsoft 365</vt:lpwstr>
  </property>
</Properties>
</file>